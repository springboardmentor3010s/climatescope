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Arimo" panose="020B070402020209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4787"/>
            <a:ext cx="13423107" cy="10287000"/>
            <a:chOff x="0" y="0"/>
            <a:chExt cx="178974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97475" cy="13716127"/>
            </a:xfrm>
            <a:custGeom>
              <a:avLst/>
              <a:gdLst/>
              <a:ahLst/>
              <a:cxnLst/>
              <a:rect l="l" t="t" r="r" b="b"/>
              <a:pathLst>
                <a:path w="17897475" h="13716127">
                  <a:moveTo>
                    <a:pt x="0" y="0"/>
                  </a:moveTo>
                  <a:lnTo>
                    <a:pt x="11865864" y="0"/>
                  </a:lnTo>
                  <a:lnTo>
                    <a:pt x="12094591" y="29210"/>
                  </a:lnTo>
                  <a:cubicBezTo>
                    <a:pt x="15380336" y="534035"/>
                    <a:pt x="17897475" y="3387979"/>
                    <a:pt x="17897475" y="6832981"/>
                  </a:cubicBezTo>
                  <a:cubicBezTo>
                    <a:pt x="17897475" y="10515600"/>
                    <a:pt x="15021306" y="13522706"/>
                    <a:pt x="11404347" y="13707111"/>
                  </a:cubicBezTo>
                  <a:lnTo>
                    <a:pt x="11052176" y="13716127"/>
                  </a:lnTo>
                  <a:lnTo>
                    <a:pt x="0" y="13716127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11291252" y="0"/>
            <a:ext cx="7006914" cy="10286998"/>
            <a:chOff x="0" y="0"/>
            <a:chExt cx="9342552" cy="13715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42501" cy="13716000"/>
            </a:xfrm>
            <a:custGeom>
              <a:avLst/>
              <a:gdLst/>
              <a:ahLst/>
              <a:cxnLst/>
              <a:rect l="l" t="t" r="r" b="b"/>
              <a:pathLst>
                <a:path w="9342501" h="13716000">
                  <a:moveTo>
                    <a:pt x="6859270" y="0"/>
                  </a:moveTo>
                  <a:lnTo>
                    <a:pt x="9342501" y="0"/>
                  </a:lnTo>
                  <a:lnTo>
                    <a:pt x="9342501" y="13716000"/>
                  </a:lnTo>
                  <a:lnTo>
                    <a:pt x="6859270" y="13716000"/>
                  </a:lnTo>
                  <a:cubicBezTo>
                    <a:pt x="3070987" y="13716000"/>
                    <a:pt x="0" y="10645648"/>
                    <a:pt x="0" y="6858000"/>
                  </a:cubicBezTo>
                  <a:cubicBezTo>
                    <a:pt x="0" y="3070352"/>
                    <a:pt x="3070987" y="0"/>
                    <a:pt x="6859270" y="0"/>
                  </a:cubicBezTo>
                  <a:close/>
                </a:path>
              </a:pathLst>
            </a:custGeom>
            <a:solidFill>
              <a:srgbClr val="F5CDC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780252" y="7200900"/>
            <a:ext cx="6028913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PRESENTED BY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930"/>
              </a:lnSpc>
              <a:spcBef>
                <a:spcPct val="0"/>
              </a:spcBef>
            </a:pP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G. Aishwarya      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149879" y="0"/>
            <a:ext cx="5148286" cy="5148286"/>
          </a:xfrm>
          <a:custGeom>
            <a:avLst/>
            <a:gdLst/>
            <a:ahLst/>
            <a:cxnLst/>
            <a:rect l="l" t="t" r="r" b="b"/>
            <a:pathLst>
              <a:path w="5148286" h="5148286">
                <a:moveTo>
                  <a:pt x="0" y="0"/>
                </a:moveTo>
                <a:lnTo>
                  <a:pt x="5148287" y="0"/>
                </a:lnTo>
                <a:lnTo>
                  <a:pt x="5148287" y="5148286"/>
                </a:lnTo>
                <a:lnTo>
                  <a:pt x="0" y="51482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8638" y="778045"/>
            <a:ext cx="16384066" cy="52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0"/>
              </a:lnSpc>
            </a:pPr>
            <a:r>
              <a:rPr lang="en-US" sz="3570" b="1" i="1">
                <a:solidFill>
                  <a:srgbClr val="1F2C8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ClimateScope - Visualizing Global Weather Trends and Extreme Events</a:t>
            </a:r>
            <a:endParaRPr lang="en-US" sz="3570" b="1" i="1">
              <a:solidFill>
                <a:srgbClr val="1F2C8F"/>
              </a:solidFill>
              <a:latin typeface="Arimo Bold Italics"/>
              <a:ea typeface="Arimo Bold Italics"/>
              <a:cs typeface="Arimo Bold Italics"/>
              <a:sym typeface="Arimo Bold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61864" y="5945132"/>
            <a:ext cx="5484946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5"/>
              </a:lnSpc>
            </a:pPr>
            <a:r>
              <a:rPr lang="en-US" sz="3970">
                <a:solidFill>
                  <a:srgbClr val="202C8F"/>
                </a:solidFill>
                <a:latin typeface="Arimo" panose="020B0704020202090204"/>
                <a:ea typeface="Arimo" panose="020B0704020202090204"/>
                <a:cs typeface="Arimo" panose="020B0704020202090204"/>
                <a:sym typeface="Arimo" panose="020B0704020202090204"/>
              </a:rPr>
              <a:t>Under the Guidance of,</a:t>
            </a:r>
            <a:endParaRPr lang="en-US" sz="3970">
              <a:solidFill>
                <a:srgbClr val="202C8F"/>
              </a:solidFill>
              <a:latin typeface="Arimo" panose="020B0704020202090204"/>
              <a:ea typeface="Arimo" panose="020B0704020202090204"/>
              <a:cs typeface="Arimo" panose="020B0704020202090204"/>
              <a:sym typeface="Arimo" panose="020B0704020202090204"/>
            </a:endParaRPr>
          </a:p>
          <a:p>
            <a:pPr algn="l">
              <a:lnSpc>
                <a:spcPts val="4765"/>
              </a:lnSpc>
            </a:pPr>
          </a:p>
          <a:p>
            <a:pPr algn="l">
              <a:lnSpc>
                <a:spcPts val="4765"/>
              </a:lnSpc>
            </a:pPr>
            <a:r>
              <a:rPr lang="en-US" sz="397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Shanmukha Priya</a:t>
            </a:r>
            <a:endParaRPr lang="en-US" sz="397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765"/>
              </a:lnSpc>
            </a:pPr>
            <a:r>
              <a:rPr lang="en-US" sz="3970">
                <a:solidFill>
                  <a:srgbClr val="202C8F"/>
                </a:solidFill>
                <a:latin typeface="Arimo" panose="020B0704020202090204"/>
                <a:ea typeface="Arimo" panose="020B0704020202090204"/>
                <a:cs typeface="Arimo" panose="020B0704020202090204"/>
                <a:sym typeface="Arimo" panose="020B0704020202090204"/>
              </a:rPr>
              <a:t>Springboard Mentor</a:t>
            </a:r>
            <a:endParaRPr lang="en-US" sz="3970">
              <a:solidFill>
                <a:srgbClr val="202C8F"/>
              </a:solidFill>
              <a:latin typeface="Arimo" panose="020B0704020202090204"/>
              <a:ea typeface="Arimo" panose="020B0704020202090204"/>
              <a:cs typeface="Arimo" panose="020B0704020202090204"/>
              <a:sym typeface="Arimo" panose="020B0704020202090204"/>
            </a:endParaRPr>
          </a:p>
          <a:p>
            <a:pPr algn="l">
              <a:lnSpc>
                <a:spcPts val="4765"/>
              </a:lnSpc>
            </a:pPr>
          </a:p>
          <a:p>
            <a:pPr algn="l">
              <a:lnSpc>
                <a:spcPts val="4765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828092" y="2216196"/>
            <a:ext cx="13332844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 i="1">
                <a:solidFill>
                  <a:srgbClr val="17216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Milestone 3 - Visualization Development &amp; Interactivity </a:t>
            </a:r>
            <a:endParaRPr lang="en-US" sz="5200" b="1" i="1">
              <a:solidFill>
                <a:srgbClr val="17216B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36096" y="0"/>
            <a:ext cx="18324094" cy="5200650"/>
            <a:chOff x="0" y="0"/>
            <a:chExt cx="24432126" cy="6934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2133" cy="6934200"/>
            </a:xfrm>
            <a:custGeom>
              <a:avLst/>
              <a:gdLst/>
              <a:ahLst/>
              <a:cxnLst/>
              <a:rect l="l" t="t" r="r" b="b"/>
              <a:pathLst>
                <a:path w="24432133" h="6934200">
                  <a:moveTo>
                    <a:pt x="0" y="0"/>
                  </a:moveTo>
                  <a:lnTo>
                    <a:pt x="24432133" y="0"/>
                  </a:lnTo>
                  <a:lnTo>
                    <a:pt x="24432133" y="6934200"/>
                  </a:lnTo>
                  <a:lnTo>
                    <a:pt x="0" y="6934200"/>
                  </a:ln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4273" y="630739"/>
            <a:ext cx="17288701" cy="9131113"/>
            <a:chOff x="0" y="0"/>
            <a:chExt cx="22821814" cy="120534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21767" cy="12053443"/>
            </a:xfrm>
            <a:custGeom>
              <a:avLst/>
              <a:gdLst/>
              <a:ahLst/>
              <a:cxnLst/>
              <a:rect l="l" t="t" r="r" b="b"/>
              <a:pathLst>
                <a:path w="22821767" h="12053443">
                  <a:moveTo>
                    <a:pt x="0" y="0"/>
                  </a:moveTo>
                  <a:lnTo>
                    <a:pt x="22821767" y="0"/>
                  </a:lnTo>
                  <a:lnTo>
                    <a:pt x="22821767" y="12053443"/>
                  </a:lnTo>
                  <a:lnTo>
                    <a:pt x="0" y="12053443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704813" y="3100489"/>
            <a:ext cx="11721361" cy="671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975" lvl="1" indent="-344805" algn="just">
              <a:lnSpc>
                <a:spcPts val="4470"/>
              </a:lnSpc>
              <a:buFont typeface="Arial" panose="020B0604020202090204"/>
              <a:buChar char="•"/>
            </a:pP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goal of this milestone is to transform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processed data in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c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 visual insights through an interactive dashboar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d.</a:t>
            </a:r>
            <a:endParaRPr lang="en-US" sz="319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470"/>
              </a:lnSpc>
            </a:pPr>
          </a:p>
          <a:p>
            <a:pPr algn="just">
              <a:lnSpc>
                <a:spcPts val="4470"/>
              </a:lnSpc>
            </a:pP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K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ey focus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reas:</a:t>
            </a:r>
            <a:endParaRPr lang="en-US" sz="319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88975" lvl="1" indent="-344805" algn="just">
              <a:lnSpc>
                <a:spcPts val="4470"/>
              </a:lnSpc>
              <a:buFont typeface="Arial" panose="020B0604020202090204"/>
              <a:buChar char="•"/>
            </a:pP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Creating meaningful visualizations</a:t>
            </a:r>
            <a:endParaRPr lang="en-US" sz="319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88975" lvl="1" indent="-344805" algn="just">
              <a:lnSpc>
                <a:spcPts val="4470"/>
              </a:lnSpc>
              <a:buFont typeface="Arial" panose="020B0604020202090204"/>
              <a:buChar char="•"/>
            </a:pP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Enabling user in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teraction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with the da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</a:t>
            </a:r>
            <a:endParaRPr lang="en-US" sz="319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88975" lvl="1" indent="-344805" algn="just">
              <a:lnSpc>
                <a:spcPts val="4470"/>
              </a:lnSpc>
              <a:buFont typeface="Arial" panose="020B0604020202090204"/>
              <a:buChar char="•"/>
            </a:pP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mproving dashboard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usability an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design</a:t>
            </a:r>
            <a:endParaRPr lang="en-US" sz="319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88975" lvl="1" indent="-344805" algn="just">
              <a:lnSpc>
                <a:spcPts val="4470"/>
              </a:lnSpc>
              <a:buFont typeface="Arial" panose="020B0604020202090204"/>
              <a:buChar char="•"/>
            </a:pP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Highlighting important trends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patte</a:t>
            </a:r>
            <a:r>
              <a:rPr lang="en-US" sz="319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rns</a:t>
            </a:r>
            <a:endParaRPr lang="en-US" sz="319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470"/>
              </a:lnSpc>
            </a:pPr>
          </a:p>
          <a:p>
            <a:pPr algn="just">
              <a:lnSpc>
                <a:spcPts val="4470"/>
              </a:lnSpc>
            </a:pPr>
            <a:r>
              <a:rPr lang="en-US" sz="3190" b="1">
                <a:solidFill>
                  <a:srgbClr val="5B71D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</a:t>
            </a:r>
            <a:r>
              <a:rPr lang="en-US" sz="3190" b="1">
                <a:solidFill>
                  <a:srgbClr val="5B71D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stag</a:t>
            </a:r>
            <a:r>
              <a:rPr lang="en-US" sz="3190" b="1">
                <a:solidFill>
                  <a:srgbClr val="5B71D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conn</a:t>
            </a:r>
            <a:r>
              <a:rPr lang="en-US" sz="3190" b="1">
                <a:solidFill>
                  <a:srgbClr val="5B71D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ects data analysis with v</a:t>
            </a:r>
            <a:r>
              <a:rPr lang="en-US" sz="3190" b="1">
                <a:solidFill>
                  <a:srgbClr val="5B71D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isual storytelling</a:t>
            </a:r>
            <a:endParaRPr lang="en-US" sz="3190" b="1">
              <a:solidFill>
                <a:srgbClr val="5B71D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47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4841240" y="1543050"/>
            <a:ext cx="10472420" cy="10388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Milestone 3 Objectives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36096" y="0"/>
            <a:ext cx="18324094" cy="5200650"/>
            <a:chOff x="0" y="0"/>
            <a:chExt cx="24432126" cy="6934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2133" cy="6934200"/>
            </a:xfrm>
            <a:custGeom>
              <a:avLst/>
              <a:gdLst/>
              <a:ahLst/>
              <a:cxnLst/>
              <a:rect l="l" t="t" r="r" b="b"/>
              <a:pathLst>
                <a:path w="24432133" h="6934200">
                  <a:moveTo>
                    <a:pt x="0" y="0"/>
                  </a:moveTo>
                  <a:lnTo>
                    <a:pt x="24432133" y="0"/>
                  </a:lnTo>
                  <a:lnTo>
                    <a:pt x="24432133" y="6934200"/>
                  </a:lnTo>
                  <a:lnTo>
                    <a:pt x="0" y="6934200"/>
                  </a:ln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4273" y="630739"/>
            <a:ext cx="17288701" cy="9131113"/>
            <a:chOff x="0" y="0"/>
            <a:chExt cx="22821814" cy="120534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21767" cy="12053443"/>
            </a:xfrm>
            <a:custGeom>
              <a:avLst/>
              <a:gdLst/>
              <a:ahLst/>
              <a:cxnLst/>
              <a:rect l="l" t="t" r="r" b="b"/>
              <a:pathLst>
                <a:path w="22821767" h="12053443">
                  <a:moveTo>
                    <a:pt x="0" y="0"/>
                  </a:moveTo>
                  <a:lnTo>
                    <a:pt x="22821767" y="0"/>
                  </a:lnTo>
                  <a:lnTo>
                    <a:pt x="22821767" y="12053443"/>
                  </a:lnTo>
                  <a:lnTo>
                    <a:pt x="0" y="12053443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063986" y="3572616"/>
            <a:ext cx="7061965" cy="5023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Different types of visualizations are dev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eloped to represent the da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taset clearly.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3980"/>
              </a:lnSpc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 include: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ine charts for trend analysis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 charts for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categor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comparison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Scatter plots for correl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 analysis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p-based vi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sualization for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egional insights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398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3091070" y="1364457"/>
            <a:ext cx="12446586" cy="109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5"/>
              </a:lnSpc>
              <a:spcBef>
                <a:spcPct val="0"/>
              </a:spcBef>
            </a:pPr>
            <a:r>
              <a:rPr lang="en-US" sz="699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Visualization Development</a:t>
            </a:r>
            <a:endParaRPr lang="en-US" sz="699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179162" y="3620241"/>
            <a:ext cx="3201177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used: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l">
              <a:lnSpc>
                <a:spcPts val="341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Plotly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l">
              <a:lnSpc>
                <a:spcPts val="341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Streamlit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41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10619743" y="6108266"/>
            <a:ext cx="592773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840" b="1">
                <a:solidFill>
                  <a:srgbClr val="7AA1B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tools support both static and interactive visualizations.</a:t>
            </a:r>
            <a:endParaRPr lang="en-US" sz="2840" b="1">
              <a:solidFill>
                <a:srgbClr val="7AA1B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41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4179893" y="2794996"/>
            <a:ext cx="11273413" cy="547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To make the dashboard dynamic and user-friendly, several inter</a:t>
            </a: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active elements are integrated.</a:t>
            </a:r>
            <a:endParaRPr lang="en-US" sz="361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340"/>
              </a:lnSpc>
            </a:pPr>
          </a:p>
          <a:p>
            <a:pPr algn="l">
              <a:lnSpc>
                <a:spcPts val="4340"/>
              </a:lnSpc>
            </a:pP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Key features include:</a:t>
            </a:r>
            <a:endParaRPr lang="en-US" sz="361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340"/>
              </a:lnSpc>
            </a:pPr>
          </a:p>
          <a:p>
            <a:pPr marL="781050" lvl="1" indent="-390525" algn="l">
              <a:lnSpc>
                <a:spcPts val="4340"/>
              </a:lnSpc>
              <a:buFont typeface="Arial" panose="020B0604020202090204"/>
              <a:buChar char="•"/>
            </a:pP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Filters to view specific categories of data</a:t>
            </a:r>
            <a:endParaRPr lang="en-US" sz="361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81050" lvl="1" indent="-390525" algn="l">
              <a:lnSpc>
                <a:spcPts val="4340"/>
              </a:lnSpc>
              <a:buFont typeface="Arial" panose="020B0604020202090204"/>
              <a:buChar char="•"/>
            </a:pP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Sl</a:t>
            </a: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iders to analyze trends across time ranges</a:t>
            </a:r>
            <a:endParaRPr lang="en-US" sz="361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81050" lvl="1" indent="-390525" algn="l">
              <a:lnSpc>
                <a:spcPts val="4340"/>
              </a:lnSpc>
              <a:buFont typeface="Arial" panose="020B0604020202090204"/>
              <a:buChar char="•"/>
            </a:pP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Regio</a:t>
            </a: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n selectors to compare geographic areas</a:t>
            </a:r>
            <a:endParaRPr lang="en-US" sz="361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81050" lvl="1" indent="-390525" algn="l">
              <a:lnSpc>
                <a:spcPts val="4340"/>
              </a:lnSpc>
              <a:buFont typeface="Arial" panose="020B0604020202090204"/>
              <a:buChar char="•"/>
            </a:pPr>
            <a:r>
              <a:rPr lang="en-US" sz="361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Hover interactions for detailed information</a:t>
            </a:r>
            <a:endParaRPr lang="en-US" sz="361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5403850" y="1173480"/>
            <a:ext cx="9419590" cy="990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Interactive Features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862605" y="8753475"/>
            <a:ext cx="13907988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210" b="1">
                <a:solidFill>
                  <a:srgbClr val="7AA1BC"/>
                </a:solidFill>
                <a:latin typeface="Arimo Bold"/>
                <a:ea typeface="Arimo Bold"/>
                <a:cs typeface="Arimo Bold"/>
                <a:sym typeface="Arimo Bold"/>
              </a:rPr>
              <a:t>These features allow users to explore the data instead of just viewing it.</a:t>
            </a:r>
            <a:endParaRPr lang="en-US" sz="3210" b="1">
              <a:solidFill>
                <a:srgbClr val="7AA1BC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8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418199" y="2798898"/>
            <a:ext cx="16408038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Typical workflow f</a:t>
            </a: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or the</a:t>
            </a: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 visualization system:</a:t>
            </a:r>
            <a:endParaRPr lang="en-US" sz="32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40"/>
              </a:lnSpc>
            </a:pPr>
          </a:p>
          <a:p>
            <a:pPr algn="l">
              <a:lnSpc>
                <a:spcPts val="3940"/>
              </a:lnSpc>
            </a:pP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Data Source → Data Processing → Visualization Engine → Interactive Dashboard</a:t>
            </a:r>
            <a:endParaRPr lang="en-US" sz="32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40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3607435" y="1154430"/>
            <a:ext cx="11618595" cy="1162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Visualization Architecture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18199" y="4780098"/>
            <a:ext cx="16408038" cy="349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Explanation:</a:t>
            </a:r>
            <a:endParaRPr lang="en-US" sz="32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40"/>
              </a:lnSpc>
            </a:pPr>
          </a:p>
          <a:p>
            <a:pPr marL="708660" lvl="1" indent="-354330" algn="l">
              <a:lnSpc>
                <a:spcPts val="3940"/>
              </a:lnSpc>
              <a:buFont typeface="Arial" panose="020B0604020202090204"/>
              <a:buChar char="•"/>
            </a:pP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Raw data is collected fr</a:t>
            </a: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om the</a:t>
            </a: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 dataset</a:t>
            </a:r>
            <a:endParaRPr lang="en-US" sz="32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08660" lvl="1" indent="-354330" algn="l">
              <a:lnSpc>
                <a:spcPts val="3940"/>
              </a:lnSpc>
              <a:buFont typeface="Arial" panose="020B0604020202090204"/>
              <a:buChar char="•"/>
            </a:pP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Data is cleaned and processed</a:t>
            </a:r>
            <a:endParaRPr lang="en-US" sz="32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08660" lvl="1" indent="-354330" algn="l">
              <a:lnSpc>
                <a:spcPts val="3940"/>
              </a:lnSpc>
              <a:buFont typeface="Arial" panose="020B0604020202090204"/>
              <a:buChar char="•"/>
            </a:pP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Visualization libraries generate charts</a:t>
            </a:r>
            <a:endParaRPr lang="en-US" sz="32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08660" lvl="1" indent="-354330" algn="l">
              <a:lnSpc>
                <a:spcPts val="3940"/>
              </a:lnSpc>
              <a:buFont typeface="Arial" panose="020B0604020202090204"/>
              <a:buChar char="•"/>
            </a:pPr>
            <a:r>
              <a:rPr lang="en-US" sz="32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Interactive dashboard displays insights to users</a:t>
            </a:r>
            <a:endParaRPr lang="en-US" sz="32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40"/>
              </a:lnSpc>
              <a:spcBef>
                <a:spcPct val="0"/>
              </a:spcBef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1418199" y="8486775"/>
            <a:ext cx="16408038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3285" b="1">
                <a:solidFill>
                  <a:srgbClr val="7AA1BC"/>
                </a:solidFill>
                <a:latin typeface="Arimo Bold"/>
                <a:ea typeface="Arimo Bold"/>
                <a:cs typeface="Arimo Bold"/>
                <a:sym typeface="Arimo Bold"/>
              </a:rPr>
              <a:t>This architecture ensures</a:t>
            </a:r>
            <a:r>
              <a:rPr lang="en-US" sz="3285" b="1">
                <a:solidFill>
                  <a:srgbClr val="7AA1BC"/>
                </a:solidFill>
                <a:latin typeface="Arimo Bold"/>
                <a:ea typeface="Arimo Bold"/>
                <a:cs typeface="Arimo Bold"/>
                <a:sym typeface="Arimo Bold"/>
              </a:rPr>
              <a:t> smooth</a:t>
            </a:r>
            <a:r>
              <a:rPr lang="en-US" sz="3285" b="1">
                <a:solidFill>
                  <a:srgbClr val="7AA1BC"/>
                </a:solidFill>
                <a:latin typeface="Arimo Bold"/>
                <a:ea typeface="Arimo Bold"/>
                <a:cs typeface="Arimo Bold"/>
                <a:sym typeface="Arimo Bold"/>
              </a:rPr>
              <a:t> data flow and real-time interaction.</a:t>
            </a:r>
            <a:endParaRPr lang="en-US" sz="3285" b="1">
              <a:solidFill>
                <a:srgbClr val="7AA1BC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40"/>
              </a:lnSpc>
            </a:pPr>
          </a:p>
          <a:p>
            <a:pPr algn="l">
              <a:lnSpc>
                <a:spcPts val="3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3702216" y="1173750"/>
            <a:ext cx="1199271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Improving Dashboard Design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744917" y="2767495"/>
            <a:ext cx="10883567" cy="4108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Vi</a:t>
            </a: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sual clarity plays a major role in data understanding.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80"/>
              </a:lnSpc>
              <a:spcBef>
                <a:spcPct val="0"/>
              </a:spcBef>
            </a:pPr>
          </a:p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Design improvements include: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80"/>
              </a:lnSpc>
              <a:spcBef>
                <a:spcPct val="0"/>
              </a:spcBef>
            </a:p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Consistent color themes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Proper labeling of axes and legends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rganized layout for charts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Clear titles and descriptions for each visualization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80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3702216" y="7688652"/>
            <a:ext cx="10883567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sz="2980" b="1">
                <a:solidFill>
                  <a:srgbClr val="7AA1BC"/>
                </a:solidFill>
                <a:latin typeface="Arimo Bold"/>
                <a:ea typeface="Arimo Bold"/>
                <a:cs typeface="Arimo Bold"/>
                <a:sym typeface="Arimo Bold"/>
              </a:rPr>
              <a:t>The</a:t>
            </a:r>
            <a:r>
              <a:rPr lang="en-US" sz="2980" b="1">
                <a:solidFill>
                  <a:srgbClr val="7AA1BC"/>
                </a:solidFill>
                <a:latin typeface="Arimo Bold"/>
                <a:ea typeface="Arimo Bold"/>
                <a:cs typeface="Arimo Bold"/>
                <a:sym typeface="Arimo Bold"/>
              </a:rPr>
              <a:t>se changes improve user experience and readability.</a:t>
            </a:r>
            <a:endParaRPr lang="en-US" sz="2980" b="1">
              <a:solidFill>
                <a:srgbClr val="7AA1BC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4606551" y="2607770"/>
            <a:ext cx="10551553" cy="5042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Deliverable:</a:t>
            </a:r>
            <a:endParaRPr lang="en-US" sz="330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 A </a:t>
            </a: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ne</a:t>
            </a: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ar-complete interactive dashboard prototype with most planned features implemented.</a:t>
            </a:r>
            <a:endParaRPr lang="en-US" sz="330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Succ</a:t>
            </a: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ess criteria:</a:t>
            </a:r>
            <a:endParaRPr lang="en-US" sz="330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12470" lvl="1" indent="-356235" algn="l">
              <a:lnSpc>
                <a:spcPts val="3960"/>
              </a:lnSpc>
              <a:buFont typeface="Arial" panose="020B0604020202090204"/>
              <a:buChar char="•"/>
            </a:pP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All major visualizations are integrated</a:t>
            </a:r>
            <a:endParaRPr lang="en-US" sz="330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12470" lvl="1" indent="-356235" algn="l">
              <a:lnSpc>
                <a:spcPts val="3960"/>
              </a:lnSpc>
              <a:buFont typeface="Arial" panose="020B0604020202090204"/>
              <a:buChar char="•"/>
            </a:pP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Interactive components work correctly</a:t>
            </a:r>
            <a:endParaRPr lang="en-US" sz="330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12470" lvl="1" indent="-356235" algn="l">
              <a:lnSpc>
                <a:spcPts val="3960"/>
              </a:lnSpc>
              <a:buFont typeface="Arial" panose="020B0604020202090204"/>
              <a:buChar char="•"/>
            </a:pP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Dashboard effectively communicates insights</a:t>
            </a:r>
            <a:endParaRPr lang="en-US" sz="330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712470" lvl="1" indent="-356235" algn="l">
              <a:lnSpc>
                <a:spcPts val="3960"/>
              </a:lnSpc>
              <a:buFont typeface="Arial" panose="020B0604020202090204"/>
              <a:buChar char="•"/>
            </a:pPr>
            <a:r>
              <a:rPr lang="en-US" sz="330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Users can explore the dataset easily</a:t>
            </a:r>
            <a:endParaRPr lang="en-US" sz="330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4606551" y="1115342"/>
            <a:ext cx="10046687" cy="100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0"/>
              </a:lnSpc>
              <a:spcBef>
                <a:spcPct val="0"/>
              </a:spcBef>
            </a:pPr>
            <a:r>
              <a:rPr lang="en-US" sz="645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Evaluation &amp; Deliverables</a:t>
            </a:r>
            <a:endParaRPr lang="en-US" sz="645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03201" y="8142704"/>
            <a:ext cx="1605432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0"/>
              </a:lnSpc>
              <a:spcBef>
                <a:spcPct val="0"/>
              </a:spcBef>
            </a:pPr>
            <a:r>
              <a:rPr lang="en-US" sz="2610" b="1">
                <a:solidFill>
                  <a:srgbClr val="3375A1"/>
                </a:solidFill>
                <a:latin typeface="Arimo Bold"/>
                <a:ea typeface="Arimo Bold"/>
                <a:cs typeface="Arimo Bold"/>
                <a:sym typeface="Arimo Bold"/>
              </a:rPr>
              <a:t>This milest</a:t>
            </a:r>
            <a:r>
              <a:rPr lang="en-US" sz="2610" b="1">
                <a:solidFill>
                  <a:srgbClr val="3375A1"/>
                </a:solidFill>
                <a:latin typeface="Arimo Bold"/>
                <a:ea typeface="Arimo Bold"/>
                <a:cs typeface="Arimo Bold"/>
                <a:sym typeface="Arimo Bold"/>
              </a:rPr>
              <a:t>one confirms that the dashboard is functionally complete and visually informative.</a:t>
            </a:r>
            <a:endParaRPr lang="en-US" sz="2610" b="1">
              <a:solidFill>
                <a:srgbClr val="3375A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5112730" y="1000125"/>
            <a:ext cx="938227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Key Analytic</a:t>
            </a: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al Insights</a:t>
            </a:r>
            <a:endParaRPr lang="en-US" sz="67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79677" y="2493612"/>
            <a:ext cx="12812465" cy="564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Visualiza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tion development revealed several important insights: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Int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eractive dashboards allow deeper exploration 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of complex da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tasets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Filters and selectors help identify hidden patterns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Combining multiple visualizations improves decision-making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Clear design significantly enhances user understanding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445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3079677" y="8122887"/>
            <a:ext cx="13878221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5"/>
              </a:lnSpc>
              <a:spcBef>
                <a:spcPct val="0"/>
              </a:spcBef>
            </a:pPr>
            <a:r>
              <a:rPr lang="en-US" sz="4370" b="1">
                <a:solidFill>
                  <a:srgbClr val="7AA1BC"/>
                </a:solidFill>
                <a:latin typeface="Arimo Bold"/>
                <a:ea typeface="Arimo Bold"/>
                <a:cs typeface="Arimo Bold"/>
                <a:sym typeface="Arimo Bold"/>
              </a:rPr>
              <a:t>Overall, the dashboard transforms raw data into actionable insights through interactive visualization.</a:t>
            </a:r>
            <a:endParaRPr lang="en-US" sz="4370" b="1">
              <a:solidFill>
                <a:srgbClr val="7AA1B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7463024" y="1000125"/>
            <a:ext cx="468168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  <a:endParaRPr lang="en-US" sz="67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12122" y="3615625"/>
            <a:ext cx="13818270" cy="508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Miles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tone 3 successfully transformed analytical results into an interactive visualization system.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445"/>
              </a:lnSpc>
              <a:spcBef>
                <a:spcPct val="0"/>
              </a:spcBef>
            </a:pPr>
          </a:p>
          <a:p>
            <a:pPr algn="l">
              <a:lnSpc>
                <a:spcPts val="4445"/>
              </a:lnSpc>
              <a:spcBef>
                <a:spcPct val="0"/>
              </a:spcBef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The major visualizations were implemented with intera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ctive elemen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ts such as filters, sliders, and region selectors. The dashboard prototype effectively highlights key patterns and insights from the dataset, creating a clear and engaging platform for data exploration.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4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3199</Words>
  <Application>WPS Presentation</Application>
  <PresentationFormat>On-screen Show (4:3)</PresentationFormat>
  <Paragraphs>128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Arial MT Pro Bold</vt:lpstr>
      <vt:lpstr>Arimo Bold Italics</vt:lpstr>
      <vt:lpstr>Arimo</vt:lpstr>
      <vt:lpstr>Arimo Bold</vt:lpstr>
      <vt:lpstr>Canva Sans Bold Italics</vt:lpstr>
      <vt:lpstr>Arial</vt:lpstr>
      <vt:lpstr>Canva Sans Bold</vt:lpstr>
      <vt:lpstr>Thonburi</vt:lpstr>
      <vt:lpstr>Calibri</vt:lpstr>
      <vt:lpstr>Helvetica Neue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milestone3</dc:title>
  <dc:creator/>
  <cp:lastModifiedBy>Garikapati Aishwarya</cp:lastModifiedBy>
  <cp:revision>2</cp:revision>
  <dcterms:created xsi:type="dcterms:W3CDTF">2026-03-16T09:24:32Z</dcterms:created>
  <dcterms:modified xsi:type="dcterms:W3CDTF">2026-03-16T09:24:32Z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F03950D1B4C993A250CCB7690E0BA7A1_42</vt:lpwstr>
  </property>
  <property fmtid="{D5CDD505-2E9C-101B-9397-08002B2CF9AE}" pid="3" name="KSOProductBuildVer">
    <vt:lpwstr>1033-12.1.23155.23155</vt:lpwstr>
  </property>
</Properties>
</file>