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Arimo" panose="020B0704020202090204"/>
      <p:regular r:id="rId15"/>
    </p:embeddedFont>
    <p:embeddedFont>
      <p:font typeface="Canva Sans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4787"/>
            <a:ext cx="13423107" cy="10287000"/>
            <a:chOff x="0" y="0"/>
            <a:chExt cx="178974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7475" cy="13716127"/>
            </a:xfrm>
            <a:custGeom>
              <a:avLst/>
              <a:gdLst/>
              <a:ahLst/>
              <a:cxnLst/>
              <a:rect l="l" t="t" r="r" b="b"/>
              <a:pathLst>
                <a:path w="17897475" h="13716127">
                  <a:moveTo>
                    <a:pt x="0" y="0"/>
                  </a:moveTo>
                  <a:lnTo>
                    <a:pt x="11865864" y="0"/>
                  </a:lnTo>
                  <a:lnTo>
                    <a:pt x="12094591" y="29210"/>
                  </a:lnTo>
                  <a:cubicBezTo>
                    <a:pt x="15380336" y="534035"/>
                    <a:pt x="17897475" y="3387979"/>
                    <a:pt x="17897475" y="6832981"/>
                  </a:cubicBezTo>
                  <a:cubicBezTo>
                    <a:pt x="17897475" y="10515600"/>
                    <a:pt x="15021306" y="13522706"/>
                    <a:pt x="11404347" y="13707111"/>
                  </a:cubicBezTo>
                  <a:lnTo>
                    <a:pt x="11052176" y="13716127"/>
                  </a:lnTo>
                  <a:lnTo>
                    <a:pt x="0" y="13716127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291252" y="0"/>
            <a:ext cx="7006914" cy="10286998"/>
            <a:chOff x="0" y="0"/>
            <a:chExt cx="9342552" cy="13715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42501" cy="13716000"/>
            </a:xfrm>
            <a:custGeom>
              <a:avLst/>
              <a:gdLst/>
              <a:ahLst/>
              <a:cxnLst/>
              <a:rect l="l" t="t" r="r" b="b"/>
              <a:pathLst>
                <a:path w="9342501" h="13716000">
                  <a:moveTo>
                    <a:pt x="6859270" y="0"/>
                  </a:moveTo>
                  <a:lnTo>
                    <a:pt x="9342501" y="0"/>
                  </a:lnTo>
                  <a:lnTo>
                    <a:pt x="9342501" y="13716000"/>
                  </a:lnTo>
                  <a:lnTo>
                    <a:pt x="6859270" y="13716000"/>
                  </a:lnTo>
                  <a:cubicBezTo>
                    <a:pt x="3070987" y="13716000"/>
                    <a:pt x="0" y="10645648"/>
                    <a:pt x="0" y="6858000"/>
                  </a:cubicBezTo>
                  <a:cubicBezTo>
                    <a:pt x="0" y="3070352"/>
                    <a:pt x="3070987" y="0"/>
                    <a:pt x="6859270" y="0"/>
                  </a:cubicBezTo>
                  <a:close/>
                </a:path>
              </a:pathLst>
            </a:custGeom>
            <a:solidFill>
              <a:srgbClr val="F5CDC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780252" y="7200900"/>
            <a:ext cx="6028913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PRESENTED BY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G. Aishwarya   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149879" y="0"/>
            <a:ext cx="5148286" cy="5148286"/>
          </a:xfrm>
          <a:custGeom>
            <a:avLst/>
            <a:gdLst/>
            <a:ahLst/>
            <a:cxnLst/>
            <a:rect l="l" t="t" r="r" b="b"/>
            <a:pathLst>
              <a:path w="5148286" h="5148286">
                <a:moveTo>
                  <a:pt x="0" y="0"/>
                </a:moveTo>
                <a:lnTo>
                  <a:pt x="5148287" y="0"/>
                </a:lnTo>
                <a:lnTo>
                  <a:pt x="5148287" y="5148286"/>
                </a:lnTo>
                <a:lnTo>
                  <a:pt x="0" y="51482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8638" y="778045"/>
            <a:ext cx="16384066" cy="52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0"/>
              </a:lnSpc>
            </a:pPr>
            <a:r>
              <a:rPr lang="en-US" sz="3570" b="1" i="1">
                <a:solidFill>
                  <a:srgbClr val="1F2C8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ClimateScope - Visualizing Global Weather Trends and Extreme Events</a:t>
            </a:r>
            <a:endParaRPr lang="en-US" sz="3570" b="1" i="1">
              <a:solidFill>
                <a:srgbClr val="1F2C8F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1864" y="5945132"/>
            <a:ext cx="5484946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Under the Guidance of,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  <a:r>
              <a:rPr lang="en-US" sz="397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Shanmukha Priya</a:t>
            </a:r>
            <a:endParaRPr lang="en-US" sz="397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Springboard Mentor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828165" y="2216150"/>
            <a:ext cx="14170025" cy="2133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280"/>
              </a:lnSpc>
            </a:pPr>
            <a:r>
              <a:rPr lang="en-US" sz="5200" b="1" i="1">
                <a:solidFill>
                  <a:srgbClr val="17216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Milestone 1: Data Preparation &amp; Understanding</a:t>
            </a:r>
            <a:endParaRPr lang="en-US" sz="5200" b="1" i="1">
              <a:solidFill>
                <a:srgbClr val="17216B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ctr">
              <a:lnSpc>
                <a:spcPts val="728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278708" y="2919041"/>
            <a:ext cx="10258948" cy="684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5960" lvl="1" indent="-347980" algn="l">
              <a:lnSpc>
                <a:spcPts val="4510"/>
              </a:lnSpc>
              <a:buFont typeface="Arial" panose="020B0604020202090204"/>
              <a:buChar char="•"/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recor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ds: </a:t>
            </a:r>
            <a:r>
              <a:rPr lang="en-US" sz="32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122,771 rows</a:t>
            </a:r>
            <a:endParaRPr lang="en-US" sz="322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95960" lvl="1" indent="-347980" algn="l">
              <a:lnSpc>
                <a:spcPts val="4510"/>
              </a:lnSpc>
              <a:buFont typeface="Arial" panose="020B0604020202090204"/>
              <a:buChar char="•"/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features: </a:t>
            </a:r>
            <a:r>
              <a:rPr lang="en-US" sz="32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 columns</a:t>
            </a:r>
            <a:endParaRPr lang="en-US" sz="322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95960" lvl="1" indent="-347980" algn="l">
              <a:lnSpc>
                <a:spcPts val="4510"/>
              </a:lnSpc>
              <a:buFont typeface="Arial" panose="020B0604020202090204"/>
              <a:buChar char="•"/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Covers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256 locations</a:t>
            </a:r>
            <a:endParaRPr lang="en-US" sz="322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95960" lvl="1" indent="-347980" algn="l">
              <a:lnSpc>
                <a:spcPts val="4510"/>
              </a:lnSpc>
              <a:buFont typeface="Arial" panose="020B0604020202090204"/>
              <a:buChar char="•"/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Contains: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>
                <a:solidFill>
                  <a:srgbClr val="1F2C8F"/>
                </a:solidFill>
                <a:latin typeface="Canva Sans" panose="020B0803030501040103"/>
                <a:ea typeface="Canva Sans" panose="020B0803030501040103"/>
                <a:cs typeface="Canva Sans" panose="020B0803030501040103"/>
                <a:sym typeface="Canva Sans" panose="020B0803030501040103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Temperature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>
                <a:solidFill>
                  <a:srgbClr val="1F2C8F"/>
                </a:solidFill>
                <a:latin typeface="Canva Sans" panose="020B0803030501040103"/>
                <a:ea typeface="Canva Sans" panose="020B0803030501040103"/>
                <a:cs typeface="Canva Sans" panose="020B0803030501040103"/>
                <a:sym typeface="Canva Sans" panose="020B0803030501040103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Humidity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>
                <a:solidFill>
                  <a:srgbClr val="1F2C8F"/>
                </a:solidFill>
                <a:latin typeface="Canva Sans" panose="020B0803030501040103"/>
                <a:ea typeface="Canva Sans" panose="020B0803030501040103"/>
                <a:cs typeface="Canva Sans" panose="020B0803030501040103"/>
                <a:sym typeface="Canva Sans" panose="020B0803030501040103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Wind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>
                <a:solidFill>
                  <a:srgbClr val="1F2C8F"/>
                </a:solidFill>
                <a:latin typeface="Canva Sans" panose="020B0803030501040103"/>
                <a:ea typeface="Canva Sans" panose="020B0803030501040103"/>
                <a:cs typeface="Canva Sans" panose="020B0803030501040103"/>
                <a:sym typeface="Canva Sans" panose="020B0803030501040103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Pressure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Precipitation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>
                <a:solidFill>
                  <a:srgbClr val="1F2C8F"/>
                </a:solidFill>
                <a:latin typeface="Canva Sans" panose="020B0803030501040103"/>
                <a:ea typeface="Canva Sans" panose="020B0803030501040103"/>
                <a:cs typeface="Canva Sans" panose="020B0803030501040103"/>
                <a:sym typeface="Canva Sans" panose="020B0803030501040103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ir-quality indicators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unrise, sunset, mo</a:t>
            </a:r>
            <a:r>
              <a:rPr lang="en-US" sz="32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data</a:t>
            </a:r>
            <a:endParaRPr lang="en-US" sz="32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51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4832985" y="1364615"/>
            <a:ext cx="9155430" cy="104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Dataset Overview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64149" y="3435869"/>
            <a:ext cx="9502934" cy="424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Programming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Py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thon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Libraries: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pandas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→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handling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mpy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→ 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numerical operations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matplotlib / Plotly → basic v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isualization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42315" lvl="1" indent="-370840" algn="just">
              <a:lnSpc>
                <a:spcPts val="4810"/>
              </a:lnSpc>
              <a:buFont typeface="Arial" panose="020B0604020202090204"/>
              <a:buChar char="•"/>
            </a:pP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Storage: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CSV f</a:t>
            </a:r>
            <a:r>
              <a:rPr lang="en-US" sz="3435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iles</a:t>
            </a:r>
            <a:endParaRPr lang="en-US" sz="3435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81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3091070" y="1364457"/>
            <a:ext cx="12446586" cy="10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  <a:spcBef>
                <a:spcPct val="0"/>
              </a:spcBef>
            </a:pPr>
            <a:r>
              <a:rPr lang="en-US" sz="699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Environment &amp; Tools Used</a:t>
            </a:r>
            <a:endParaRPr lang="en-US" sz="699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716532" y="4827723"/>
            <a:ext cx="15954952" cy="3515141"/>
          </a:xfrm>
          <a:custGeom>
            <a:avLst/>
            <a:gdLst/>
            <a:ahLst/>
            <a:cxnLst/>
            <a:rect l="l" t="t" r="r" b="b"/>
            <a:pathLst>
              <a:path w="15954952" h="3515141">
                <a:moveTo>
                  <a:pt x="0" y="0"/>
                </a:moveTo>
                <a:lnTo>
                  <a:pt x="15954952" y="0"/>
                </a:lnTo>
                <a:lnTo>
                  <a:pt x="15954952" y="3515141"/>
                </a:lnTo>
                <a:lnTo>
                  <a:pt x="0" y="351514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55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61094" y="2598873"/>
            <a:ext cx="11868674" cy="240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import pandas as pd</a:t>
            </a:r>
            <a:endParaRPr lang="en-US" sz="318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20"/>
              </a:lnSpc>
            </a:pPr>
          </a:p>
          <a:p>
            <a:pPr algn="l">
              <a:lnSpc>
                <a:spcPts val="3820"/>
              </a:lnSpc>
            </a:pP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 = pd.read_csv("GlobalWeatherRepository.csv")</a:t>
            </a:r>
            <a:endParaRPr lang="en-US" sz="318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df.head()</a:t>
            </a:r>
            <a:endParaRPr lang="en-US" sz="318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2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2760980" y="1154430"/>
            <a:ext cx="13202285" cy="104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 Loading (Code + Output)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36933" y="4475298"/>
            <a:ext cx="5434532" cy="4544628"/>
          </a:xfrm>
          <a:custGeom>
            <a:avLst/>
            <a:gdLst/>
            <a:ahLst/>
            <a:cxnLst/>
            <a:rect l="l" t="t" r="r" b="b"/>
            <a:pathLst>
              <a:path w="5434532" h="4544628">
                <a:moveTo>
                  <a:pt x="0" y="0"/>
                </a:moveTo>
                <a:lnTo>
                  <a:pt x="5434533" y="0"/>
                </a:lnTo>
                <a:lnTo>
                  <a:pt x="5434533" y="4544628"/>
                </a:lnTo>
                <a:lnTo>
                  <a:pt x="0" y="454462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69800" y="4475298"/>
            <a:ext cx="5434532" cy="4544628"/>
          </a:xfrm>
          <a:custGeom>
            <a:avLst/>
            <a:gdLst/>
            <a:ahLst/>
            <a:cxnLst/>
            <a:rect l="l" t="t" r="r" b="b"/>
            <a:pathLst>
              <a:path w="5434532" h="4544628">
                <a:moveTo>
                  <a:pt x="0" y="0"/>
                </a:moveTo>
                <a:lnTo>
                  <a:pt x="5434532" y="0"/>
                </a:lnTo>
                <a:lnTo>
                  <a:pt x="5434532" y="4544628"/>
                </a:lnTo>
                <a:lnTo>
                  <a:pt x="0" y="4544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61094" y="2598873"/>
            <a:ext cx="11868674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# Inspect structure</a:t>
            </a:r>
            <a:endParaRPr lang="en-US" sz="318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df.shape, df.columns, df.info(), </a:t>
            </a:r>
            <a:r>
              <a:rPr lang="en-US" sz="318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df.describe()</a:t>
            </a:r>
            <a:endParaRPr lang="en-US" sz="318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20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4778375" y="1154430"/>
            <a:ext cx="9484995" cy="104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 Understanding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382682" y="4465773"/>
            <a:ext cx="5975902" cy="4710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965" lvl="1" indent="-241300" algn="just">
              <a:lnSpc>
                <a:spcPts val="2680"/>
              </a:lnSpc>
              <a:buFont typeface="Arial" panose="020B0604020202090204"/>
              <a:buChar char="•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Mix of numerical + categorical columns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1965" lvl="1" indent="-241300" algn="just">
              <a:lnSpc>
                <a:spcPts val="2680"/>
              </a:lnSpc>
              <a:buFont typeface="Arial" panose="020B0604020202090204"/>
              <a:buChar char="•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Examples of numeric: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temperature_celsius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humidity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wind_kph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air_quality_PM2.5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1965" lvl="1" indent="-241300" algn="just">
              <a:lnSpc>
                <a:spcPts val="2680"/>
              </a:lnSpc>
              <a:buFont typeface="Arial" panose="020B0604020202090204"/>
              <a:buChar char="•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Examples of categorical: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country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condition_text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63930" lvl="2" indent="-321310" algn="just">
              <a:lnSpc>
                <a:spcPts val="2680"/>
              </a:lnSpc>
              <a:buFont typeface="Arial" panose="020B0604020202090204"/>
              <a:buChar char="⚬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moon_phase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680"/>
              </a:lnSpc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   </a:t>
            </a: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Key stat to observe: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1965" lvl="1" indent="-241300" algn="just">
              <a:lnSpc>
                <a:spcPts val="2680"/>
              </a:lnSpc>
              <a:buFont typeface="Arial" panose="020B0604020202090204"/>
              <a:buChar char="•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Mean temperature ≈ 21.7 °C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1965" lvl="1" indent="-241300" algn="just">
              <a:lnSpc>
                <a:spcPts val="2680"/>
              </a:lnSpc>
              <a:buFont typeface="Arial" panose="020B0604020202090204"/>
              <a:buChar char="•"/>
            </a:pPr>
            <a:r>
              <a:rPr lang="en-US" sz="223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Most common condition: Partly cloudy</a:t>
            </a:r>
            <a:endParaRPr lang="en-US" sz="223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6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4225261" y="1633818"/>
            <a:ext cx="3430421" cy="7921849"/>
          </a:xfrm>
          <a:custGeom>
            <a:avLst/>
            <a:gdLst/>
            <a:ahLst/>
            <a:cxnLst/>
            <a:rect l="l" t="t" r="r" b="b"/>
            <a:pathLst>
              <a:path w="3430421" h="7921849">
                <a:moveTo>
                  <a:pt x="0" y="0"/>
                </a:moveTo>
                <a:lnTo>
                  <a:pt x="3430421" y="0"/>
                </a:lnTo>
                <a:lnTo>
                  <a:pt x="3430421" y="7921849"/>
                </a:lnTo>
                <a:lnTo>
                  <a:pt x="0" y="792184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691" r="-369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10246" y="1154170"/>
            <a:ext cx="850686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Missing Value Check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80238" y="2850536"/>
            <a:ext cx="7726547" cy="229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# Missing values summary</a:t>
            </a:r>
            <a:endParaRPr lang="en-US" sz="217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missing_counts = df.isnull().sum()</a:t>
            </a:r>
            <a:endParaRPr lang="en-US" sz="217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missing_percent = (missing_counts / len(df)) * 100</a:t>
            </a:r>
            <a:endParaRPr lang="en-US" sz="217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missing_summary = pd.DataFrame({'missing_count': missing_counts, 'missing_percent': missing_percent})</a:t>
            </a:r>
            <a:endParaRPr lang="en-US" sz="217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missing_summary.sort_values(by='missing_percent', ascending=False)</a:t>
            </a:r>
            <a:endParaRPr lang="en-US" sz="217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84333" y="5124450"/>
            <a:ext cx="7834980" cy="198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o/p :</a:t>
            </a:r>
            <a:endParaRPr lang="en-US" sz="217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69265" lvl="1" indent="-234950" algn="l">
              <a:lnSpc>
                <a:spcPts val="2610"/>
              </a:lnSpc>
              <a:buFont typeface="Arial" panose="020B0604020202090204"/>
              <a:buChar char="•"/>
            </a:pPr>
            <a:r>
              <a:rPr lang="en-US" sz="217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 missing values in major weather columns</a:t>
            </a:r>
            <a:endParaRPr lang="en-US" sz="217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69265" lvl="1" indent="-234950" algn="l">
              <a:lnSpc>
                <a:spcPts val="2610"/>
              </a:lnSpc>
              <a:buFont typeface="Arial" panose="020B0604020202090204"/>
              <a:buChar char="•"/>
            </a:pPr>
            <a:r>
              <a:rPr lang="en-US" sz="217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 is already clean and complete</a:t>
            </a:r>
            <a:endParaRPr lang="en-US" sz="217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69265" lvl="1" indent="-234950" algn="l">
              <a:lnSpc>
                <a:spcPts val="2610"/>
              </a:lnSpc>
              <a:buFont typeface="Arial" panose="020B0604020202090204"/>
              <a:buChar char="•"/>
            </a:pPr>
            <a:r>
              <a:rPr lang="en-US" sz="217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Only preprocessing needed → formatting &amp; aggregation</a:t>
            </a:r>
            <a:endParaRPr lang="en-US" sz="217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217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Result - Means high-quality dataset.</a:t>
            </a:r>
            <a:endParaRPr lang="en-US" sz="217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580238" y="7345867"/>
            <a:ext cx="8032141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5"/>
              </a:lnSpc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#text standardization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55"/>
              </a:lnSpc>
              <a:spcBef>
                <a:spcPct val="0"/>
              </a:spcBef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df_cleaned_nulls['country'] = df_cleaned_nulls['country'].str.strip().str.title()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55"/>
              </a:lnSpc>
              <a:spcBef>
                <a:spcPct val="0"/>
              </a:spcBef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o/p: 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78155" lvl="1" indent="-238760" algn="l">
              <a:lnSpc>
                <a:spcPts val="26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Removed extra spaces in country names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78155" lvl="1" indent="-238760" algn="l">
              <a:lnSpc>
                <a:spcPts val="26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Converted text to consistent title case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78155" lvl="1" indent="-238760" algn="l">
              <a:lnSpc>
                <a:spcPts val="26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2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Ensured uniform country representation for analysis</a:t>
            </a:r>
            <a:endParaRPr lang="en-US" sz="22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6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71903" y="3799023"/>
            <a:ext cx="15867136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38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Fahrenhit to celsius: </a:t>
            </a:r>
            <a:endParaRPr lang="en-US" sz="38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4580"/>
              </a:lnSpc>
            </a:pPr>
            <a:r>
              <a:rPr lang="en-US" sz="381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df["temperature_celsius"] = (df["temperature_fahrenheit"] - 32) * 5/9</a:t>
            </a:r>
            <a:endParaRPr lang="en-US" sz="381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4580"/>
              </a:lnSpc>
            </a:pPr>
            <a:r>
              <a:rPr lang="en-US" sz="381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mph → km/h</a:t>
            </a:r>
            <a:endParaRPr lang="en-US" sz="381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4580"/>
              </a:lnSpc>
            </a:pPr>
            <a:r>
              <a:rPr lang="en-US" sz="381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df["humidity_norm"] = (df["humidity"] - df["humidity"].min()) / \</a:t>
            </a:r>
            <a:endParaRPr lang="en-US" sz="381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580"/>
              </a:lnSpc>
            </a:pPr>
            <a:r>
              <a:rPr lang="en-US" sz="381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    (df["humidity"].max() - df["humidity"].min())</a:t>
            </a:r>
            <a:endParaRPr lang="en-US" sz="381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458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6092649" y="1154170"/>
            <a:ext cx="6747351" cy="100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0"/>
              </a:lnSpc>
              <a:spcBef>
                <a:spcPct val="0"/>
              </a:spcBef>
            </a:pPr>
            <a:r>
              <a:rPr lang="en-US" sz="645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Convert units</a:t>
            </a:r>
            <a:endParaRPr lang="en-US" sz="645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061693" y="3799023"/>
            <a:ext cx="645289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Save Pre-processed csv</a:t>
            </a:r>
            <a:endParaRPr lang="en-US" sz="3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17955" y="2712720"/>
            <a:ext cx="9843135" cy="3128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2260"/>
              </a:lnSpc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#daily aggregation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</a:p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df_clean = df_cleaned_nulls[[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'country','location_name','latitude','longitude','last_updated',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'temperature_celsius','humidity','precip_mm','wind_kph','condition_text','uv_index'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]]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# Feature engineering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df_clean['year'] = df_clean['last_updated'].dt.year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df_clean['month'] = df_clean['last_updated'].dt.month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  <a:r>
              <a:rPr lang="en-US" sz="18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df_clean['month_name'] = df_clean['last_updated'].dt.month_name()</a:t>
            </a:r>
            <a:endParaRPr lang="en-US" sz="18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2260"/>
              </a:lnSpc>
              <a:spcBef>
                <a:spcPct val="0"/>
              </a:spcBef>
            </a:pPr>
          </a:p>
          <a:p>
            <a:pPr algn="just">
              <a:lnSpc>
                <a:spcPts val="226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417955" y="6436995"/>
            <a:ext cx="6701790" cy="35534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# M</a:t>
            </a: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onthly aggregation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monthly_df = df_clean.groupby(['country','year','month'], as_index=False).agg({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'temperature_celsius': 'mean',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'humidity': 'mean',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'precip_mm': 'sum',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'wind_kph': 'mean',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'uv_index': 'mean'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})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36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monthly_df.head()</a:t>
            </a:r>
            <a:endParaRPr lang="en-US" sz="2365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10533134" y="4870269"/>
            <a:ext cx="6605906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465" b="1">
                <a:solidFill>
                  <a:srgbClr val="202C8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# Save cleaned daily dataset</a:t>
            </a:r>
            <a:endParaRPr lang="en-US" sz="2465" b="1">
              <a:solidFill>
                <a:srgbClr val="202C8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2960"/>
              </a:lnSpc>
              <a:spcBef>
                <a:spcPct val="0"/>
              </a:spcBef>
            </a:pPr>
          </a:p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465" b="1">
                <a:solidFill>
                  <a:srgbClr val="202C8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df_clean.to_csv('/Users/garikapatiaishwarya/.Trash/climatescope/data/processed/global_weather_cleaned_daily.csv', index=False)</a:t>
            </a:r>
            <a:endParaRPr lang="en-US" sz="2465" b="1">
              <a:solidFill>
                <a:srgbClr val="202C8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2960"/>
              </a:lnSpc>
              <a:spcBef>
                <a:spcPct val="0"/>
              </a:spcBef>
            </a:pPr>
          </a:p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465" b="1">
                <a:solidFill>
                  <a:srgbClr val="202C8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# Save aggregated monthly dataset</a:t>
            </a:r>
            <a:endParaRPr lang="en-US" sz="2465" b="1">
              <a:solidFill>
                <a:srgbClr val="202C8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2960"/>
              </a:lnSpc>
              <a:spcBef>
                <a:spcPct val="0"/>
              </a:spcBef>
            </a:pPr>
          </a:p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465" b="1">
                <a:solidFill>
                  <a:srgbClr val="202C8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monthly_df.to_csv('/Users/garikapatiaishwarya/.Trash/climatescope/data/processed/global_weather_cleaned_monthly.csv', index=False)</a:t>
            </a:r>
            <a:endParaRPr lang="en-US" sz="2465" b="1">
              <a:solidFill>
                <a:srgbClr val="202C8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53424" y="1558612"/>
            <a:ext cx="733800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Daily and Monthly agg</a:t>
            </a:r>
            <a:endParaRPr lang="en-US" sz="43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25844" y="2295525"/>
            <a:ext cx="15180205" cy="696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sz="574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Milestone 1 Successfully Completed</a:t>
            </a:r>
            <a:endParaRPr lang="en-US" sz="574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6885"/>
              </a:lnSpc>
            </a:pPr>
          </a:p>
          <a:p>
            <a:pPr marL="1239520" lvl="1" indent="-619760" algn="l">
              <a:lnSpc>
                <a:spcPts val="6885"/>
              </a:lnSpc>
              <a:buFont typeface="Arial" panose="020B0604020202090204"/>
              <a:buChar char="•"/>
            </a:pPr>
            <a:r>
              <a:rPr lang="en-US" sz="574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Global weather dataset explored</a:t>
            </a:r>
            <a:endParaRPr lang="en-US" sz="574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239520" lvl="1" indent="-619760" algn="l">
              <a:lnSpc>
                <a:spcPts val="6885"/>
              </a:lnSpc>
              <a:buFont typeface="Arial" panose="020B0604020202090204"/>
              <a:buChar char="•"/>
            </a:pPr>
            <a:r>
              <a:rPr lang="en-US" sz="574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Structure and statistics verified</a:t>
            </a:r>
            <a:endParaRPr lang="en-US" sz="574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239520" lvl="1" indent="-619760" algn="l">
              <a:lnSpc>
                <a:spcPts val="6885"/>
              </a:lnSpc>
              <a:buFont typeface="Arial" panose="020B0604020202090204"/>
              <a:buChar char="•"/>
            </a:pPr>
            <a:r>
              <a:rPr lang="en-US" sz="574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 quality confirmed (no major null values)</a:t>
            </a:r>
            <a:endParaRPr lang="en-US" sz="574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239520" lvl="1" indent="-619760" algn="l">
              <a:lnSpc>
                <a:spcPts val="6885"/>
              </a:lnSpc>
              <a:buFont typeface="Arial" panose="020B0604020202090204"/>
              <a:buChar char="•"/>
            </a:pPr>
            <a:r>
              <a:rPr lang="en-US" sz="574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Dataset ready for analysis and visualization</a:t>
            </a:r>
            <a:endParaRPr lang="en-US" sz="574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3191</Words>
  <Application>WPS Presentation</Application>
  <PresentationFormat>On-screen Show (4:3)</PresentationFormat>
  <Paragraphs>151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Arial MT Pro Bold</vt:lpstr>
      <vt:lpstr>Arimo Bold Italics</vt:lpstr>
      <vt:lpstr>Arimo</vt:lpstr>
      <vt:lpstr>Arimo Bold</vt:lpstr>
      <vt:lpstr>Canva Sans Bold Italics</vt:lpstr>
      <vt:lpstr>Arial</vt:lpstr>
      <vt:lpstr>Canva Sans Bold</vt:lpstr>
      <vt:lpstr>Thonburi</vt:lpstr>
      <vt:lpstr>Canva Sans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milestone1</dc:title>
  <dc:creator/>
  <cp:lastModifiedBy>Garikapati Aishwarya</cp:lastModifiedBy>
  <cp:revision>3</cp:revision>
  <dcterms:created xsi:type="dcterms:W3CDTF">2026-02-24T14:11:14Z</dcterms:created>
  <dcterms:modified xsi:type="dcterms:W3CDTF">2026-02-24T14:11:14Z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26E4AC078A5EFBB273B19D69B029707B_42</vt:lpwstr>
  </property>
  <property fmtid="{D5CDD505-2E9C-101B-9397-08002B2CF9AE}" pid="3" name="KSOProductBuildVer">
    <vt:lpwstr>1033-12.1.23155.23155</vt:lpwstr>
  </property>
</Properties>
</file>