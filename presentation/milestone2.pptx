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Arimo" panose="020B070402020209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4787"/>
            <a:ext cx="13423107" cy="10287000"/>
            <a:chOff x="0" y="0"/>
            <a:chExt cx="1789747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97475" cy="13716127"/>
            </a:xfrm>
            <a:custGeom>
              <a:avLst/>
              <a:gdLst/>
              <a:ahLst/>
              <a:cxnLst/>
              <a:rect l="l" t="t" r="r" b="b"/>
              <a:pathLst>
                <a:path w="17897475" h="13716127">
                  <a:moveTo>
                    <a:pt x="0" y="0"/>
                  </a:moveTo>
                  <a:lnTo>
                    <a:pt x="11865864" y="0"/>
                  </a:lnTo>
                  <a:lnTo>
                    <a:pt x="12094591" y="29210"/>
                  </a:lnTo>
                  <a:cubicBezTo>
                    <a:pt x="15380336" y="534035"/>
                    <a:pt x="17897475" y="3387979"/>
                    <a:pt x="17897475" y="6832981"/>
                  </a:cubicBezTo>
                  <a:cubicBezTo>
                    <a:pt x="17897475" y="10515600"/>
                    <a:pt x="15021306" y="13522706"/>
                    <a:pt x="11404347" y="13707111"/>
                  </a:cubicBezTo>
                  <a:lnTo>
                    <a:pt x="11052176" y="13716127"/>
                  </a:lnTo>
                  <a:lnTo>
                    <a:pt x="0" y="13716127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11291252" y="0"/>
            <a:ext cx="7006914" cy="10286998"/>
            <a:chOff x="0" y="0"/>
            <a:chExt cx="9342552" cy="137159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42501" cy="13716000"/>
            </a:xfrm>
            <a:custGeom>
              <a:avLst/>
              <a:gdLst/>
              <a:ahLst/>
              <a:cxnLst/>
              <a:rect l="l" t="t" r="r" b="b"/>
              <a:pathLst>
                <a:path w="9342501" h="13716000">
                  <a:moveTo>
                    <a:pt x="6859270" y="0"/>
                  </a:moveTo>
                  <a:lnTo>
                    <a:pt x="9342501" y="0"/>
                  </a:lnTo>
                  <a:lnTo>
                    <a:pt x="9342501" y="13716000"/>
                  </a:lnTo>
                  <a:lnTo>
                    <a:pt x="6859270" y="13716000"/>
                  </a:lnTo>
                  <a:cubicBezTo>
                    <a:pt x="3070987" y="13716000"/>
                    <a:pt x="0" y="10645648"/>
                    <a:pt x="0" y="6858000"/>
                  </a:cubicBezTo>
                  <a:cubicBezTo>
                    <a:pt x="0" y="3070352"/>
                    <a:pt x="3070987" y="0"/>
                    <a:pt x="6859270" y="0"/>
                  </a:cubicBezTo>
                  <a:close/>
                </a:path>
              </a:pathLst>
            </a:custGeom>
            <a:solidFill>
              <a:srgbClr val="F5CDC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780252" y="7200900"/>
            <a:ext cx="6028913" cy="205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PRESENTED BY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930"/>
              </a:lnSpc>
              <a:spcBef>
                <a:spcPct val="0"/>
              </a:spcBef>
            </a:pP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G. Aishwarya      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275" b="1">
                <a:solidFill>
                  <a:srgbClr val="1721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</a:t>
            </a:r>
            <a:endParaRPr lang="en-US" sz="3275" b="1">
              <a:solidFill>
                <a:srgbClr val="17216B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149879" y="0"/>
            <a:ext cx="5148286" cy="5148286"/>
          </a:xfrm>
          <a:custGeom>
            <a:avLst/>
            <a:gdLst/>
            <a:ahLst/>
            <a:cxnLst/>
            <a:rect l="l" t="t" r="r" b="b"/>
            <a:pathLst>
              <a:path w="5148286" h="5148286">
                <a:moveTo>
                  <a:pt x="0" y="0"/>
                </a:moveTo>
                <a:lnTo>
                  <a:pt x="5148287" y="0"/>
                </a:lnTo>
                <a:lnTo>
                  <a:pt x="5148287" y="5148286"/>
                </a:lnTo>
                <a:lnTo>
                  <a:pt x="0" y="514828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8638" y="778045"/>
            <a:ext cx="16384066" cy="520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0"/>
              </a:lnSpc>
            </a:pPr>
            <a:r>
              <a:rPr lang="en-US" sz="3570" b="1" i="1">
                <a:solidFill>
                  <a:srgbClr val="1F2C8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ClimateScope - Visualizing Global Weather Trends and Extreme Events</a:t>
            </a:r>
            <a:endParaRPr lang="en-US" sz="3570" b="1" i="1">
              <a:solidFill>
                <a:srgbClr val="1F2C8F"/>
              </a:solidFill>
              <a:latin typeface="Arimo Bold Italics"/>
              <a:ea typeface="Arimo Bold Italics"/>
              <a:cs typeface="Arimo Bold Italics"/>
              <a:sym typeface="Arimo Bold Itali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61864" y="5945132"/>
            <a:ext cx="5484946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5"/>
              </a:lnSpc>
            </a:pPr>
            <a:r>
              <a:rPr lang="en-US" sz="3970">
                <a:solidFill>
                  <a:srgbClr val="202C8F"/>
                </a:solidFill>
                <a:latin typeface="Arimo" panose="020B0704020202090204"/>
                <a:ea typeface="Arimo" panose="020B0704020202090204"/>
                <a:cs typeface="Arimo" panose="020B0704020202090204"/>
                <a:sym typeface="Arimo" panose="020B0704020202090204"/>
              </a:rPr>
              <a:t>Under the Guidance of,</a:t>
            </a:r>
            <a:endParaRPr lang="en-US" sz="3970">
              <a:solidFill>
                <a:srgbClr val="202C8F"/>
              </a:solidFill>
              <a:latin typeface="Arimo" panose="020B0704020202090204"/>
              <a:ea typeface="Arimo" panose="020B0704020202090204"/>
              <a:cs typeface="Arimo" panose="020B0704020202090204"/>
              <a:sym typeface="Arimo" panose="020B0704020202090204"/>
            </a:endParaRPr>
          </a:p>
          <a:p>
            <a:pPr algn="l">
              <a:lnSpc>
                <a:spcPts val="4765"/>
              </a:lnSpc>
            </a:pPr>
          </a:p>
          <a:p>
            <a:pPr algn="l">
              <a:lnSpc>
                <a:spcPts val="4765"/>
              </a:lnSpc>
            </a:pPr>
            <a:r>
              <a:rPr lang="en-US" sz="397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Shanmukha Priya</a:t>
            </a:r>
            <a:endParaRPr lang="en-US" sz="397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765"/>
              </a:lnSpc>
            </a:pPr>
            <a:r>
              <a:rPr lang="en-US" sz="3970">
                <a:solidFill>
                  <a:srgbClr val="202C8F"/>
                </a:solidFill>
                <a:latin typeface="Arimo" panose="020B0704020202090204"/>
                <a:ea typeface="Arimo" panose="020B0704020202090204"/>
                <a:cs typeface="Arimo" panose="020B0704020202090204"/>
                <a:sym typeface="Arimo" panose="020B0704020202090204"/>
              </a:rPr>
              <a:t>Springboard Mentor</a:t>
            </a:r>
            <a:endParaRPr lang="en-US" sz="3970">
              <a:solidFill>
                <a:srgbClr val="202C8F"/>
              </a:solidFill>
              <a:latin typeface="Arimo" panose="020B0704020202090204"/>
              <a:ea typeface="Arimo" panose="020B0704020202090204"/>
              <a:cs typeface="Arimo" panose="020B0704020202090204"/>
              <a:sym typeface="Arimo" panose="020B0704020202090204"/>
            </a:endParaRPr>
          </a:p>
          <a:p>
            <a:pPr algn="l">
              <a:lnSpc>
                <a:spcPts val="4765"/>
              </a:lnSpc>
            </a:pPr>
          </a:p>
          <a:p>
            <a:pPr algn="l">
              <a:lnSpc>
                <a:spcPts val="4765"/>
              </a:lnSpc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828092" y="2216196"/>
            <a:ext cx="13332844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 i="1">
                <a:solidFill>
                  <a:srgbClr val="17216B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Milestone 2 - Core Analysis &amp; Visualization Design </a:t>
            </a:r>
            <a:endParaRPr lang="en-US" sz="5200" b="1" i="1">
              <a:solidFill>
                <a:srgbClr val="17216B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36096" y="0"/>
            <a:ext cx="18324094" cy="5200650"/>
            <a:chOff x="0" y="0"/>
            <a:chExt cx="24432126" cy="6934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2133" cy="6934200"/>
            </a:xfrm>
            <a:custGeom>
              <a:avLst/>
              <a:gdLst/>
              <a:ahLst/>
              <a:cxnLst/>
              <a:rect l="l" t="t" r="r" b="b"/>
              <a:pathLst>
                <a:path w="24432133" h="6934200">
                  <a:moveTo>
                    <a:pt x="0" y="0"/>
                  </a:moveTo>
                  <a:lnTo>
                    <a:pt x="24432133" y="0"/>
                  </a:lnTo>
                  <a:lnTo>
                    <a:pt x="24432133" y="6934200"/>
                  </a:lnTo>
                  <a:lnTo>
                    <a:pt x="0" y="6934200"/>
                  </a:ln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4273" y="630739"/>
            <a:ext cx="17288701" cy="9131113"/>
            <a:chOff x="0" y="0"/>
            <a:chExt cx="22821814" cy="120534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21767" cy="12053443"/>
            </a:xfrm>
            <a:custGeom>
              <a:avLst/>
              <a:gdLst/>
              <a:ahLst/>
              <a:cxnLst/>
              <a:rect l="l" t="t" r="r" b="b"/>
              <a:pathLst>
                <a:path w="22821767" h="12053443">
                  <a:moveTo>
                    <a:pt x="0" y="0"/>
                  </a:moveTo>
                  <a:lnTo>
                    <a:pt x="22821767" y="0"/>
                  </a:lnTo>
                  <a:lnTo>
                    <a:pt x="22821767" y="12053443"/>
                  </a:lnTo>
                  <a:lnTo>
                    <a:pt x="0" y="12053443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347374" y="2956435"/>
            <a:ext cx="11435232" cy="6412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680" lvl="1" indent="-434340" algn="l">
              <a:lnSpc>
                <a:spcPts val="5630"/>
              </a:lnSpc>
              <a:buFont typeface="Arial" panose="020B0604020202090204"/>
              <a:buChar char="•"/>
            </a:pP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statis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tic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 analysis on weather dataset</a:t>
            </a:r>
            <a:endParaRPr lang="en-US" sz="40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68680" lvl="1" indent="-434340" algn="l">
              <a:lnSpc>
                <a:spcPts val="5630"/>
              </a:lnSpc>
              <a:buFont typeface="Arial" panose="020B0604020202090204"/>
              <a:buChar char="•"/>
            </a:pP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entify distributions,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orrelations, seasonal patterns</a:t>
            </a:r>
            <a:endParaRPr lang="en-US" sz="40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68680" lvl="1" indent="-434340" algn="l">
              <a:lnSpc>
                <a:spcPts val="5630"/>
              </a:lnSpc>
              <a:buFont typeface="Arial" panose="020B0604020202090204"/>
              <a:buChar char="•"/>
            </a:pP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extreme weather ev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ents</a:t>
            </a:r>
            <a:endParaRPr lang="en-US" sz="40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68680" lvl="1" indent="-434340" algn="l">
              <a:lnSpc>
                <a:spcPts val="5630"/>
              </a:lnSpc>
              <a:buFont typeface="Arial" panose="020B0604020202090204"/>
              <a:buChar char="•"/>
            </a:pP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Compare weather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ditions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ac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ross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regions</a:t>
            </a:r>
            <a:endParaRPr lang="en-US" sz="40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868680" lvl="1" indent="-434340" algn="l">
              <a:lnSpc>
                <a:spcPts val="5630"/>
              </a:lnSpc>
              <a:buFont typeface="Arial" panose="020B0604020202090204"/>
              <a:buChar char="•"/>
            </a:pP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dashboard v</a:t>
            </a:r>
            <a:r>
              <a:rPr lang="en-US" sz="402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isualization structure</a:t>
            </a:r>
            <a:endParaRPr lang="en-US" sz="402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63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4841240" y="1543050"/>
            <a:ext cx="10372725" cy="1041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Milestone 2 Objectives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36096" y="0"/>
            <a:ext cx="18324094" cy="5200650"/>
            <a:chOff x="0" y="0"/>
            <a:chExt cx="24432126" cy="6934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32133" cy="6934200"/>
            </a:xfrm>
            <a:custGeom>
              <a:avLst/>
              <a:gdLst/>
              <a:ahLst/>
              <a:cxnLst/>
              <a:rect l="l" t="t" r="r" b="b"/>
              <a:pathLst>
                <a:path w="24432133" h="6934200">
                  <a:moveTo>
                    <a:pt x="0" y="0"/>
                  </a:moveTo>
                  <a:lnTo>
                    <a:pt x="24432133" y="0"/>
                  </a:lnTo>
                  <a:lnTo>
                    <a:pt x="24432133" y="6934200"/>
                  </a:lnTo>
                  <a:lnTo>
                    <a:pt x="0" y="6934200"/>
                  </a:ln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494273" y="630739"/>
            <a:ext cx="17288701" cy="9131113"/>
            <a:chOff x="0" y="0"/>
            <a:chExt cx="22821814" cy="1205345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21767" cy="12053443"/>
            </a:xfrm>
            <a:custGeom>
              <a:avLst/>
              <a:gdLst/>
              <a:ahLst/>
              <a:cxnLst/>
              <a:rect l="l" t="t" r="r" b="b"/>
              <a:pathLst>
                <a:path w="22821767" h="12053443">
                  <a:moveTo>
                    <a:pt x="0" y="0"/>
                  </a:moveTo>
                  <a:lnTo>
                    <a:pt x="22821767" y="0"/>
                  </a:lnTo>
                  <a:lnTo>
                    <a:pt x="22821767" y="12053443"/>
                  </a:lnTo>
                  <a:lnTo>
                    <a:pt x="0" y="12053443"/>
                  </a:lnTo>
                  <a:close/>
                </a:path>
              </a:pathLst>
            </a:custGeom>
            <a:solidFill>
              <a:srgbClr val="FDFAF6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758848" y="2718877"/>
            <a:ext cx="11065706" cy="65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Characteristics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Variables analyzed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Temperature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Precipi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tation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Humidity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 Speed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Date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Country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Granularit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y: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ily observations aggreg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ated monthly and yearly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13410" lvl="1" indent="-306705" algn="just">
              <a:lnSpc>
                <a:spcPts val="3980"/>
              </a:lnSpc>
              <a:buFont typeface="Arial" panose="020B0604020202090204"/>
              <a:buChar char="•"/>
            </a:pP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Purpose: Under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 global climate behavior across time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r</a:t>
            </a:r>
            <a:r>
              <a:rPr lang="en-US" sz="2840" b="1">
                <a:solidFill>
                  <a:srgbClr val="1F2C8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egions.</a:t>
            </a:r>
            <a:endParaRPr lang="en-US" sz="2840" b="1">
              <a:solidFill>
                <a:srgbClr val="1F2C8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3980"/>
              </a:lnSpc>
            </a:pPr>
          </a:p>
        </p:txBody>
      </p:sp>
      <p:sp>
        <p:nvSpPr>
          <p:cNvPr id="7" name="TextBox 7"/>
          <p:cNvSpPr txBox="1"/>
          <p:nvPr/>
        </p:nvSpPr>
        <p:spPr>
          <a:xfrm>
            <a:off x="3091070" y="1364457"/>
            <a:ext cx="12446586" cy="109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5"/>
              </a:lnSpc>
              <a:spcBef>
                <a:spcPct val="0"/>
              </a:spcBef>
            </a:pPr>
            <a:r>
              <a:rPr lang="en-US" sz="699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Dataset Overview</a:t>
            </a:r>
            <a:endParaRPr lang="en-US" sz="699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8199" y="2823571"/>
            <a:ext cx="2230147" cy="6888484"/>
          </a:xfrm>
          <a:custGeom>
            <a:avLst/>
            <a:gdLst/>
            <a:ahLst/>
            <a:cxnLst/>
            <a:rect l="l" t="t" r="r" b="b"/>
            <a:pathLst>
              <a:path w="2230147" h="6888484">
                <a:moveTo>
                  <a:pt x="0" y="0"/>
                </a:moveTo>
                <a:lnTo>
                  <a:pt x="2230147" y="0"/>
                </a:lnTo>
                <a:lnTo>
                  <a:pt x="2230147" y="6888484"/>
                </a:lnTo>
                <a:lnTo>
                  <a:pt x="0" y="688848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5" name="Group 5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7" name="Group 7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4179893" y="2814046"/>
            <a:ext cx="9073829" cy="482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Descriptive Statistics Performed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28650" lvl="1" indent="-314325" algn="l">
              <a:lnSpc>
                <a:spcPts val="3495"/>
              </a:lnSpc>
              <a:buFont typeface="Arial" panose="020B0604020202090204"/>
              <a:buChar char="•"/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Mean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28650" lvl="1" indent="-314325" algn="l">
              <a:lnSpc>
                <a:spcPts val="3495"/>
              </a:lnSpc>
              <a:buFont typeface="Arial" panose="020B0604020202090204"/>
              <a:buChar char="•"/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Me</a:t>
            </a: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dian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28650" lvl="1" indent="-314325" algn="l">
              <a:lnSpc>
                <a:spcPts val="3495"/>
              </a:lnSpc>
              <a:buFont typeface="Arial" panose="020B0604020202090204"/>
              <a:buChar char="•"/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Standard Deviation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28650" lvl="1" indent="-314325" algn="l">
              <a:lnSpc>
                <a:spcPts val="3495"/>
              </a:lnSpc>
              <a:buFont typeface="Arial" panose="020B0604020202090204"/>
              <a:buChar char="•"/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Minimum &amp; Maximum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495"/>
              </a:lnSpc>
            </a:pPr>
          </a:p>
          <a:p>
            <a:pPr algn="l">
              <a:lnSpc>
                <a:spcPts val="3495"/>
              </a:lnSpc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Insights: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495"/>
              </a:lnSpc>
            </a:pPr>
          </a:p>
          <a:p>
            <a:pPr marL="628650" lvl="1" indent="-314325" algn="l">
              <a:lnSpc>
                <a:spcPts val="3495"/>
              </a:lnSpc>
              <a:buFont typeface="Arial" panose="020B0604020202090204"/>
              <a:buChar char="•"/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Temperature shows significant variability across regions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495"/>
              </a:lnSpc>
              <a:spcBef>
                <a:spcPct val="0"/>
              </a:spcBef>
            </a:pPr>
          </a:p>
        </p:txBody>
      </p:sp>
      <p:sp>
        <p:nvSpPr>
          <p:cNvPr id="10" name="Freeform 10"/>
          <p:cNvSpPr/>
          <p:nvPr/>
        </p:nvSpPr>
        <p:spPr>
          <a:xfrm>
            <a:off x="13037850" y="2733675"/>
            <a:ext cx="4821224" cy="4819650"/>
          </a:xfrm>
          <a:custGeom>
            <a:avLst/>
            <a:gdLst/>
            <a:ahLst/>
            <a:cxnLst/>
            <a:rect l="l" t="t" r="r" b="b"/>
            <a:pathLst>
              <a:path w="4821224" h="4819650">
                <a:moveTo>
                  <a:pt x="0" y="0"/>
                </a:moveTo>
                <a:lnTo>
                  <a:pt x="4821224" y="0"/>
                </a:lnTo>
                <a:lnTo>
                  <a:pt x="4821224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63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483872" y="1173750"/>
            <a:ext cx="1196459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Statistical Summary Analysis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179893" y="7633696"/>
            <a:ext cx="10187062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8015" lvl="1" indent="-314325" algn="l">
              <a:lnSpc>
                <a:spcPts val="3490"/>
              </a:lnSpc>
              <a:buFont typeface="Arial" panose="020B0604020202090204"/>
              <a:buChar char="•"/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Precipitation distribution is positively skewed 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490"/>
              </a:lnSpc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      humidity remains relatively stable compared to rainfall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490"/>
              </a:lnSpc>
            </a:pPr>
          </a:p>
          <a:p>
            <a:pPr marL="628015" lvl="1" indent="-314325" algn="l">
              <a:lnSpc>
                <a:spcPts val="3490"/>
              </a:lnSpc>
              <a:buFont typeface="Arial" panose="020B0604020202090204"/>
              <a:buChar char="•"/>
            </a:pPr>
            <a:r>
              <a:rPr lang="en-US" sz="291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This establishes baseline climate behavior.</a:t>
            </a:r>
            <a:endParaRPr lang="en-US" sz="291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3478341" y="2398044"/>
            <a:ext cx="13217098" cy="745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Method Used:</a:t>
            </a:r>
            <a:endParaRPr lang="en-US" sz="40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81380" lvl="1" indent="-440690" algn="l">
              <a:lnSpc>
                <a:spcPts val="4900"/>
              </a:lnSpc>
              <a:buFont typeface="Arial" panose="020B0604020202090204"/>
              <a:buChar char="•"/>
            </a:pP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Histograms with</a:t>
            </a: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 KDE curves</a:t>
            </a:r>
            <a:endParaRPr lang="en-US" sz="40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Findings:</a:t>
            </a:r>
            <a:endParaRPr lang="en-US" sz="40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81380" lvl="1" indent="-440690" algn="l">
              <a:lnSpc>
                <a:spcPts val="4900"/>
              </a:lnSpc>
              <a:buFont typeface="Arial" panose="020B0604020202090204"/>
              <a:buChar char="•"/>
            </a:pP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Temperature follows near-normal distribution in most regions</a:t>
            </a:r>
            <a:endParaRPr lang="en-US" sz="40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81380" lvl="1" indent="-440690" algn="l">
              <a:lnSpc>
                <a:spcPts val="4900"/>
              </a:lnSpc>
              <a:buFont typeface="Arial" panose="020B0604020202090204"/>
              <a:buChar char="•"/>
            </a:pP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Precipitation </a:t>
            </a: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shows heavy right skew (many low values, few extreme highs)</a:t>
            </a:r>
            <a:endParaRPr lang="en-US" sz="40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81380" lvl="1" indent="-440690" algn="l">
              <a:lnSpc>
                <a:spcPts val="490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Wind spee</a:t>
            </a: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 concentrated within moderate ranges</a:t>
            </a:r>
            <a:endParaRPr lang="en-US" sz="40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4085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Purpose: Detect irregular patterns and variability.</a:t>
            </a:r>
            <a:endParaRPr lang="en-US" sz="4085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id="9" name="TextBox 9"/>
          <p:cNvSpPr txBox="1"/>
          <p:nvPr/>
        </p:nvSpPr>
        <p:spPr>
          <a:xfrm>
            <a:off x="4579402" y="1154170"/>
            <a:ext cx="856855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Distribution Analysis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4698241" y="1154170"/>
            <a:ext cx="833087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Correlation Analysis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6933" y="2861301"/>
            <a:ext cx="9274112" cy="683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Method</a:t>
            </a: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 Used: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Pearson correlation matrix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Heatmap visualization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80"/>
              </a:lnSpc>
              <a:spcBef>
                <a:spcPct val="0"/>
              </a:spcBef>
            </a:pPr>
          </a:p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Key Observations: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Moderate correlation between temperature and humidity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Weak correlation between wind speed and precipitation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3890" lvl="1" indent="-321945" algn="l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Strong relationships vary by region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80"/>
              </a:lnSpc>
              <a:spcBef>
                <a:spcPct val="0"/>
              </a:spcBef>
            </a:pPr>
          </a:p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Why Important: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80"/>
              </a:lnSpc>
              <a:spcBef>
                <a:spcPct val="0"/>
              </a:spcBef>
            </a:pPr>
            <a:r>
              <a:rPr lang="en-US" sz="298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 Helps understand interdependency between climate variables.</a:t>
            </a:r>
            <a:endParaRPr lang="en-US" sz="298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580"/>
              </a:lnSpc>
              <a:spcBef>
                <a:spcPct val="0"/>
              </a:spcBef>
            </a:pPr>
          </a:p>
        </p:txBody>
      </p:sp>
      <p:sp>
        <p:nvSpPr>
          <p:cNvPr id="10" name="Freeform 10"/>
          <p:cNvSpPr/>
          <p:nvPr/>
        </p:nvSpPr>
        <p:spPr>
          <a:xfrm>
            <a:off x="10389261" y="3086100"/>
            <a:ext cx="7315908" cy="6403845"/>
          </a:xfrm>
          <a:custGeom>
            <a:avLst/>
            <a:gdLst/>
            <a:ahLst/>
            <a:cxnLst/>
            <a:rect l="l" t="t" r="r" b="b"/>
            <a:pathLst>
              <a:path w="7315908" h="6403845">
                <a:moveTo>
                  <a:pt x="0" y="0"/>
                </a:moveTo>
                <a:lnTo>
                  <a:pt x="7315908" y="0"/>
                </a:lnTo>
                <a:lnTo>
                  <a:pt x="7315908" y="6403845"/>
                </a:lnTo>
                <a:lnTo>
                  <a:pt x="0" y="640384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6581558" y="2901342"/>
            <a:ext cx="1628971" cy="6356958"/>
          </a:xfrm>
          <a:custGeom>
            <a:avLst/>
            <a:gdLst/>
            <a:ahLst/>
            <a:cxnLst/>
            <a:rect l="l" t="t" r="r" b="b"/>
            <a:pathLst>
              <a:path w="1628971" h="6356958">
                <a:moveTo>
                  <a:pt x="0" y="0"/>
                </a:moveTo>
                <a:lnTo>
                  <a:pt x="1628970" y="0"/>
                </a:lnTo>
                <a:lnTo>
                  <a:pt x="162897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448820" y="2901342"/>
            <a:ext cx="1628971" cy="6356958"/>
          </a:xfrm>
          <a:custGeom>
            <a:avLst/>
            <a:gdLst/>
            <a:ahLst/>
            <a:cxnLst/>
            <a:rect l="l" t="t" r="r" b="b"/>
            <a:pathLst>
              <a:path w="1628971" h="6356958">
                <a:moveTo>
                  <a:pt x="0" y="0"/>
                </a:moveTo>
                <a:lnTo>
                  <a:pt x="1628971" y="0"/>
                </a:lnTo>
                <a:lnTo>
                  <a:pt x="162897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61721" y="2923004"/>
            <a:ext cx="3381587" cy="6019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0"/>
              </a:lnSpc>
            </a:pPr>
            <a:r>
              <a:rPr lang="en-US" sz="263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Method:</a:t>
            </a:r>
            <a:endParaRPr lang="en-US" sz="263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160"/>
              </a:lnSpc>
            </a:pPr>
          </a:p>
          <a:p>
            <a:pPr marL="568325" lvl="1" indent="-283845" algn="l">
              <a:lnSpc>
                <a:spcPts val="3160"/>
              </a:lnSpc>
              <a:buFont typeface="Arial" panose="020B0604020202090204"/>
              <a:buChar char="•"/>
            </a:pPr>
            <a:r>
              <a:rPr lang="en-US" sz="263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Monthly </a:t>
            </a:r>
            <a:r>
              <a:rPr lang="en-US" sz="263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aggregation</a:t>
            </a:r>
            <a:endParaRPr lang="en-US" sz="263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68325" lvl="1" indent="-283845" algn="l">
              <a:lnSpc>
                <a:spcPts val="3160"/>
              </a:lnSpc>
              <a:buFont typeface="Arial" panose="020B0604020202090204"/>
              <a:buChar char="•"/>
            </a:pPr>
            <a:r>
              <a:rPr lang="en-US" sz="263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Line charts for time-series trends</a:t>
            </a:r>
            <a:endParaRPr lang="en-US" sz="263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160"/>
              </a:lnSpc>
            </a:pPr>
          </a:p>
          <a:p>
            <a:pPr algn="l">
              <a:lnSpc>
                <a:spcPts val="3160"/>
              </a:lnSpc>
            </a:pPr>
            <a:r>
              <a:rPr lang="en-US" sz="263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Temperature:</a:t>
            </a:r>
            <a:endParaRPr lang="en-US" sz="263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68325" lvl="1" indent="-283845" algn="l">
              <a:lnSpc>
                <a:spcPts val="3160"/>
              </a:lnSpc>
              <a:buFont typeface="Arial" panose="020B0604020202090204"/>
              <a:buChar char="•"/>
            </a:pPr>
            <a:r>
              <a:rPr lang="en-US" sz="263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Clear cyclical seasonal pattern</a:t>
            </a:r>
            <a:endParaRPr lang="en-US" sz="263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68325" lvl="1" indent="-283845" algn="l">
              <a:lnSpc>
                <a:spcPts val="3160"/>
              </a:lnSpc>
              <a:buFont typeface="Arial" panose="020B0604020202090204"/>
              <a:buChar char="•"/>
            </a:pPr>
            <a:r>
              <a:rPr lang="en-US" sz="2630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Peaks during mid-year months</a:t>
            </a:r>
            <a:endParaRPr lang="en-US" sz="2630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160"/>
              </a:lnSpc>
            </a:pPr>
          </a:p>
          <a:p>
            <a:pPr algn="l">
              <a:lnSpc>
                <a:spcPts val="3160"/>
              </a:lnSpc>
              <a:spcBef>
                <a:spcPct val="0"/>
              </a:spcBef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4858984" y="1115342"/>
            <a:ext cx="10046687" cy="100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40"/>
              </a:lnSpc>
              <a:spcBef>
                <a:spcPct val="0"/>
              </a:spcBef>
            </a:pPr>
            <a:r>
              <a:rPr lang="en-US" sz="645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Seasonal Trend Analysis</a:t>
            </a:r>
            <a:endParaRPr lang="en-US" sz="645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927397" y="2747798"/>
            <a:ext cx="3662313" cy="5217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5"/>
              </a:lnSpc>
            </a:pPr>
            <a:r>
              <a:rPr lang="en-US" sz="26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Precipitation:</a:t>
            </a:r>
            <a:endParaRPr lang="en-US" sz="26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05"/>
              </a:lnSpc>
            </a:pPr>
          </a:p>
          <a:p>
            <a:pPr marL="577215" lvl="1" indent="-288290" algn="l">
              <a:lnSpc>
                <a:spcPts val="3205"/>
              </a:lnSpc>
              <a:buFont typeface="Arial" panose="020B0604020202090204"/>
              <a:buChar char="•"/>
            </a:pPr>
            <a:r>
              <a:rPr lang="en-US" sz="26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Regional seasonal variation</a:t>
            </a:r>
            <a:endParaRPr lang="en-US" sz="26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77215" lvl="1" indent="-288290" algn="l">
              <a:lnSpc>
                <a:spcPts val="3205"/>
              </a:lnSpc>
              <a:buFont typeface="Arial" panose="020B0604020202090204"/>
              <a:buChar char="•"/>
            </a:pPr>
            <a:r>
              <a:rPr lang="en-US" sz="26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Monsoon-like patterns in specific regions</a:t>
            </a:r>
            <a:endParaRPr lang="en-US" sz="26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05"/>
              </a:lnSpc>
            </a:pPr>
          </a:p>
          <a:p>
            <a:pPr algn="l">
              <a:lnSpc>
                <a:spcPts val="3205"/>
              </a:lnSpc>
            </a:pPr>
            <a:r>
              <a:rPr lang="en-US" sz="26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Humidity:</a:t>
            </a:r>
            <a:endParaRPr lang="en-US" sz="26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77215" lvl="1" indent="-288290" algn="l">
              <a:lnSpc>
                <a:spcPts val="3205"/>
              </a:lnSpc>
              <a:buFont typeface="Arial" panose="020B0604020202090204"/>
              <a:buChar char="•"/>
            </a:pPr>
            <a:r>
              <a:rPr lang="en-US" sz="26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Follows rainfall patterns in many areas</a:t>
            </a:r>
            <a:endParaRPr lang="en-US" sz="26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05"/>
              </a:lnSpc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11927397" y="8142704"/>
            <a:ext cx="6730131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0"/>
              </a:lnSpc>
              <a:spcBef>
                <a:spcPct val="0"/>
              </a:spcBef>
            </a:pPr>
            <a:r>
              <a:rPr lang="en-US" sz="261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Conclusion:</a:t>
            </a:r>
            <a:endParaRPr lang="en-US" sz="261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130"/>
              </a:lnSpc>
              <a:spcBef>
                <a:spcPct val="0"/>
              </a:spcBef>
            </a:pPr>
            <a:r>
              <a:rPr lang="en-US" sz="261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Strong seasonality confirmed.</a:t>
            </a:r>
            <a:endParaRPr lang="en-US" sz="261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8952233" y="2533650"/>
            <a:ext cx="8307067" cy="672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0"/>
              </a:lnSpc>
              <a:spcBef>
                <a:spcPct val="0"/>
              </a:spcBef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Appro</a:t>
            </a: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ach Used: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4525" lvl="1" indent="-321945" algn="just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1st percentile threshold → Extreme low temperature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4525" lvl="1" indent="-321945" algn="just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99th percentile threshold → Extreme high temperature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3580"/>
              </a:lnSpc>
              <a:spcBef>
                <a:spcPct val="0"/>
              </a:spcBef>
            </a:pPr>
          </a:p>
          <a:p>
            <a:pPr algn="just">
              <a:lnSpc>
                <a:spcPts val="3580"/>
              </a:lnSpc>
              <a:spcBef>
                <a:spcPct val="0"/>
              </a:spcBef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Created: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3580"/>
              </a:lnSpc>
              <a:spcBef>
                <a:spcPct val="0"/>
              </a:spcBef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 Extreme Event Flag variable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3580"/>
              </a:lnSpc>
              <a:spcBef>
                <a:spcPct val="0"/>
              </a:spcBef>
            </a:pPr>
          </a:p>
          <a:p>
            <a:pPr algn="just">
              <a:lnSpc>
                <a:spcPts val="3580"/>
              </a:lnSpc>
              <a:spcBef>
                <a:spcPct val="0"/>
              </a:spcBef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Results: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4525" lvl="1" indent="-321945" algn="just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Increasing frequency in certain years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44525" lvl="1" indent="-321945" algn="just">
              <a:lnSpc>
                <a:spcPts val="358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Specific countries show higher concentration of extremes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3580"/>
              </a:lnSpc>
              <a:spcBef>
                <a:spcPct val="0"/>
              </a:spcBef>
            </a:pPr>
            <a:r>
              <a:rPr lang="en-US" sz="2985" b="1">
                <a:solidFill>
                  <a:srgbClr val="202C8F"/>
                </a:solidFill>
                <a:latin typeface="Arimo Bold"/>
                <a:ea typeface="Arimo Bold"/>
                <a:cs typeface="Arimo Bold"/>
                <a:sym typeface="Arimo Bold"/>
              </a:rPr>
              <a:t>This highlights climate risk patterns.</a:t>
            </a:r>
            <a:endParaRPr lang="en-US" sz="2985" b="1">
              <a:solidFill>
                <a:srgbClr val="20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just">
              <a:lnSpc>
                <a:spcPts val="3580"/>
              </a:lnSpc>
              <a:spcBef>
                <a:spcPct val="0"/>
              </a:spcBef>
            </a:pPr>
          </a:p>
        </p:txBody>
      </p:sp>
      <p:sp>
        <p:nvSpPr>
          <p:cNvPr id="9" name="Freeform 9"/>
          <p:cNvSpPr/>
          <p:nvPr/>
        </p:nvSpPr>
        <p:spPr>
          <a:xfrm>
            <a:off x="1556184" y="2543175"/>
            <a:ext cx="6712256" cy="6259179"/>
          </a:xfrm>
          <a:custGeom>
            <a:avLst/>
            <a:gdLst/>
            <a:ahLst/>
            <a:cxnLst/>
            <a:rect l="l" t="t" r="r" b="b"/>
            <a:pathLst>
              <a:path w="6712256" h="6259179">
                <a:moveTo>
                  <a:pt x="0" y="0"/>
                </a:moveTo>
                <a:lnTo>
                  <a:pt x="6712256" y="0"/>
                </a:lnTo>
                <a:lnTo>
                  <a:pt x="6712256" y="6259179"/>
                </a:lnTo>
                <a:lnTo>
                  <a:pt x="0" y="625917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071495" y="765810"/>
            <a:ext cx="13882370" cy="1738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Extreme Weather Event Detection</a:t>
            </a:r>
            <a:endParaRPr lang="en-US" sz="640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58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923" y="2378620"/>
            <a:ext cx="8693957" cy="710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9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Year-wise Analysis:</a:t>
            </a:r>
            <a:endParaRPr lang="en-US" sz="39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9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Bar chart showing extreme events per year</a:t>
            </a:r>
            <a:endParaRPr lang="en-US" sz="39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690"/>
              </a:lnSpc>
              <a:spcBef>
                <a:spcPct val="0"/>
              </a:spcBef>
            </a:pP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9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Country-wise Analysis:</a:t>
            </a:r>
            <a:endParaRPr lang="en-US" sz="39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9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Top countries with highest extreme events</a:t>
            </a:r>
            <a:endParaRPr lang="en-US" sz="39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690"/>
              </a:lnSpc>
              <a:spcBef>
                <a:spcPct val="0"/>
              </a:spcBef>
            </a:pP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9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Insight:</a:t>
            </a:r>
            <a:endParaRPr lang="en-US" sz="39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690"/>
              </a:lnSpc>
              <a:spcBef>
                <a:spcPct val="0"/>
              </a:spcBef>
            </a:pPr>
            <a:r>
              <a:rPr lang="en-US" sz="39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Extreme weather occurrences are not evenly distributed geographically.</a:t>
            </a:r>
            <a:endParaRPr lang="en-US" sz="39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9803867" y="2818779"/>
            <a:ext cx="8211394" cy="6661494"/>
          </a:xfrm>
          <a:custGeom>
            <a:avLst/>
            <a:gdLst/>
            <a:ahLst/>
            <a:cxnLst/>
            <a:rect l="l" t="t" r="r" b="b"/>
            <a:pathLst>
              <a:path w="8211394" h="6661494">
                <a:moveTo>
                  <a:pt x="0" y="0"/>
                </a:moveTo>
                <a:lnTo>
                  <a:pt x="8211394" y="0"/>
                </a:lnTo>
                <a:lnTo>
                  <a:pt x="8211394" y="6661494"/>
                </a:lnTo>
                <a:lnTo>
                  <a:pt x="0" y="66614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57120" y="1000125"/>
            <a:ext cx="13834745" cy="1041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F2C8F"/>
                </a:solidFill>
                <a:latin typeface="Arimo Bold"/>
                <a:ea typeface="Arimo Bold"/>
                <a:cs typeface="Arimo Bold"/>
                <a:sym typeface="Arimo Bold"/>
              </a:rPr>
              <a:t>Extreme Events Trend Analysis</a:t>
            </a:r>
            <a:endParaRPr lang="en-US" sz="6770" b="1">
              <a:solidFill>
                <a:srgbClr val="1F2C8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061005" y="2746838"/>
            <a:ext cx="7533984" cy="701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Comp</a:t>
            </a: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arative Metrics: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71830" lvl="1" indent="-335915" algn="l">
              <a:lnSpc>
                <a:spcPts val="373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Average Temperature by Country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71830" lvl="1" indent="-335915" algn="l">
              <a:lnSpc>
                <a:spcPts val="373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Total Precipitation by Country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71830" lvl="1" indent="-335915" algn="l">
              <a:lnSpc>
                <a:spcPts val="373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Average Humidity by Country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Findings: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71830" lvl="1" indent="-335915" algn="l">
              <a:lnSpc>
                <a:spcPts val="373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Clear climatic diversity across regions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71830" lvl="1" indent="-335915" algn="l">
              <a:lnSpc>
                <a:spcPts val="373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Some countries consistently hotter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71830" lvl="1" indent="-335915" algn="l">
              <a:lnSpc>
                <a:spcPts val="373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Some regions experience heavier rainfall patterns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  <a:p>
            <a:pPr algn="l">
              <a:lnSpc>
                <a:spcPts val="3735"/>
              </a:lnSpc>
              <a:spcBef>
                <a:spcPct val="0"/>
              </a:spcBef>
            </a:pPr>
            <a:r>
              <a:rPr lang="en-US" sz="31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This enables geographic climate benchmarking.</a:t>
            </a:r>
            <a:endParaRPr lang="en-US" sz="31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735"/>
              </a:lnSpc>
              <a:spcBef>
                <a:spcPct val="0"/>
              </a:spcBef>
            </a:pPr>
          </a:p>
        </p:txBody>
      </p:sp>
      <p:sp>
        <p:nvSpPr>
          <p:cNvPr id="9" name="Freeform 9"/>
          <p:cNvSpPr/>
          <p:nvPr/>
        </p:nvSpPr>
        <p:spPr>
          <a:xfrm>
            <a:off x="1618317" y="2761696"/>
            <a:ext cx="7484274" cy="6071617"/>
          </a:xfrm>
          <a:custGeom>
            <a:avLst/>
            <a:gdLst/>
            <a:ahLst/>
            <a:cxnLst/>
            <a:rect l="l" t="t" r="r" b="b"/>
            <a:pathLst>
              <a:path w="7484274" h="6071617">
                <a:moveTo>
                  <a:pt x="0" y="0"/>
                </a:moveTo>
                <a:lnTo>
                  <a:pt x="7484275" y="0"/>
                </a:lnTo>
                <a:lnTo>
                  <a:pt x="7484275" y="6071617"/>
                </a:lnTo>
                <a:lnTo>
                  <a:pt x="0" y="607161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60455" y="1000125"/>
            <a:ext cx="888682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egional Comparison</a:t>
            </a:r>
            <a:endParaRPr lang="en-US" sz="67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3097932" y="1000125"/>
            <a:ext cx="1341187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Visualizat</a:t>
            </a: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ion Selection Rationale</a:t>
            </a:r>
            <a:endParaRPr lang="en-US" sz="67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11818" y="3017941"/>
            <a:ext cx="14184098" cy="642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5"/>
              </a:lnSpc>
              <a:spcBef>
                <a:spcPct val="0"/>
              </a:spcBef>
            </a:pP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ach visualization was chosen based on analytical suitability:</a:t>
            </a:r>
            <a:endParaRPr lang="en-US" sz="42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09320" lvl="1" indent="-454660" algn="l">
              <a:lnSpc>
                <a:spcPts val="505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Line Charts → Best for seasonal/time-series analysis</a:t>
            </a:r>
            <a:endParaRPr lang="en-US" sz="42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09320" lvl="1" indent="-454660" algn="l">
              <a:lnSpc>
                <a:spcPts val="505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Ba</a:t>
            </a: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r Charts → Best for country comparisons</a:t>
            </a:r>
            <a:endParaRPr lang="en-US" sz="42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09320" lvl="1" indent="-454660" algn="l">
              <a:lnSpc>
                <a:spcPts val="505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Heatmaps → Effective for correlation analysis</a:t>
            </a:r>
            <a:endParaRPr lang="en-US" sz="42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09320" lvl="1" indent="-454660" algn="l">
              <a:lnSpc>
                <a:spcPts val="505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KPI Cards</a:t>
            </a: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 → Quick summary insights</a:t>
            </a:r>
            <a:endParaRPr lang="en-US" sz="42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909320" lvl="1" indent="-454660" algn="l">
              <a:lnSpc>
                <a:spcPts val="505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Choropleth Map → Geographic distribution clarity</a:t>
            </a:r>
            <a:endParaRPr lang="en-US" sz="42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055"/>
              </a:lnSpc>
              <a:spcBef>
                <a:spcPct val="0"/>
              </a:spcBef>
            </a:pPr>
            <a:r>
              <a:rPr lang="en-US" sz="421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This ensures clarity, interpretability, and usability.</a:t>
            </a:r>
            <a:endParaRPr lang="en-US" sz="421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0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190564" y="1000125"/>
            <a:ext cx="1522660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Proposed Tabl</a:t>
            </a: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eau Dashboard Design</a:t>
            </a:r>
            <a:endParaRPr lang="en-US" sz="67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18199" y="2768007"/>
            <a:ext cx="4787421" cy="703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  <a:spcBef>
                <a:spcPct val="0"/>
              </a:spcBef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ashboard Structure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430"/>
              </a:lnSpc>
              <a:spcBef>
                <a:spcPct val="0"/>
              </a:spcBef>
            </a:pPr>
          </a:p>
          <a:p>
            <a:pPr algn="l">
              <a:lnSpc>
                <a:spcPts val="2430"/>
              </a:lnSpc>
              <a:spcBef>
                <a:spcPct val="0"/>
              </a:spcBef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Top Section: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KPI Summary Cards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74395" lvl="2" indent="-291465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⚬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Avg Temperature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74395" lvl="2" indent="-291465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⚬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Total Precipitation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74395" lvl="2" indent="-291465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⚬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Avg Humidity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74395" lvl="2" indent="-291465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⚬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Ext</a:t>
            </a: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reme Events Count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430"/>
              </a:lnSpc>
              <a:spcBef>
                <a:spcPct val="0"/>
              </a:spcBef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Middle Section: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Mon</a:t>
            </a: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thly Temperature Trend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Monthly Precipitation Trend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Monthly</a:t>
            </a: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 H</a:t>
            </a: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umidity Trend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430"/>
              </a:lnSpc>
              <a:spcBef>
                <a:spcPct val="0"/>
              </a:spcBef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L</a:t>
            </a: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ower Section: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Extreme Events per Year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Top Countries with Extreme Events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430"/>
              </a:lnSpc>
              <a:spcBef>
                <a:spcPct val="0"/>
              </a:spcBef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Bottom: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Regional Comparison Map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430"/>
              </a:lnSpc>
              <a:spcBef>
                <a:spcPct val="0"/>
              </a:spcBef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Filters: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Country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37515" lvl="1" indent="-218440" algn="l">
              <a:lnSpc>
                <a:spcPts val="2430"/>
              </a:lnSpc>
              <a:buFont typeface="Arial" panose="020B0604020202090204"/>
              <a:buChar char="•"/>
            </a:pPr>
            <a:r>
              <a:rPr lang="en-US" sz="202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Year</a:t>
            </a:r>
            <a:endParaRPr lang="en-US" sz="202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430"/>
              </a:lnSpc>
              <a:spcBef>
                <a:spcPct val="0"/>
              </a:spcBef>
            </a:pPr>
          </a:p>
          <a:p>
            <a:pPr algn="l">
              <a:lnSpc>
                <a:spcPts val="2430"/>
              </a:lnSpc>
              <a:spcBef>
                <a:spcPct val="0"/>
              </a:spcBef>
            </a:pPr>
          </a:p>
          <a:p>
            <a:pPr algn="l">
              <a:lnSpc>
                <a:spcPts val="2430"/>
              </a:lnSpc>
              <a:spcBef>
                <a:spcPct val="0"/>
              </a:spcBef>
            </a:pPr>
          </a:p>
        </p:txBody>
      </p:sp>
      <p:sp>
        <p:nvSpPr>
          <p:cNvPr id="10" name="Freeform 10"/>
          <p:cNvSpPr/>
          <p:nvPr/>
        </p:nvSpPr>
        <p:spPr>
          <a:xfrm>
            <a:off x="6218715" y="2231025"/>
            <a:ext cx="11607329" cy="7573782"/>
          </a:xfrm>
          <a:custGeom>
            <a:avLst/>
            <a:gdLst/>
            <a:ahLst/>
            <a:cxnLst/>
            <a:rect l="l" t="t" r="r" b="b"/>
            <a:pathLst>
              <a:path w="11607329" h="7573782">
                <a:moveTo>
                  <a:pt x="0" y="0"/>
                </a:moveTo>
                <a:lnTo>
                  <a:pt x="11607329" y="0"/>
                </a:lnTo>
                <a:lnTo>
                  <a:pt x="11607329" y="7573782"/>
                </a:lnTo>
                <a:lnTo>
                  <a:pt x="0" y="757378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5112730" y="1000125"/>
            <a:ext cx="938227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Key Analytic</a:t>
            </a: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al Insights</a:t>
            </a:r>
            <a:endParaRPr lang="en-US" sz="67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12122" y="3615625"/>
            <a:ext cx="12812465" cy="396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Strong seasonal temperature cycles exist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Precipitation shows high variability and skewness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Certain regions sh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ow concen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trated extreme weather activity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Climate variables exhibit moderate interdependence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Geographic differences are significant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4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" y="0"/>
            <a:ext cx="2325843" cy="3818073"/>
            <a:chOff x="0" y="0"/>
            <a:chExt cx="3101124" cy="5090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1086" cy="5090795"/>
            </a:xfrm>
            <a:custGeom>
              <a:avLst/>
              <a:gdLst/>
              <a:ahLst/>
              <a:cxnLst/>
              <a:rect l="l" t="t" r="r" b="b"/>
              <a:pathLst>
                <a:path w="3101086" h="5090795">
                  <a:moveTo>
                    <a:pt x="1366266" y="0"/>
                  </a:moveTo>
                  <a:lnTo>
                    <a:pt x="3101086" y="0"/>
                  </a:lnTo>
                  <a:lnTo>
                    <a:pt x="3101086" y="14478"/>
                  </a:lnTo>
                  <a:cubicBezTo>
                    <a:pt x="3101086" y="2045081"/>
                    <a:pt x="2040890" y="3827145"/>
                    <a:pt x="443738" y="4837430"/>
                  </a:cubicBezTo>
                  <a:lnTo>
                    <a:pt x="0" y="5090795"/>
                  </a:lnTo>
                  <a:lnTo>
                    <a:pt x="0" y="3001010"/>
                  </a:lnTo>
                  <a:lnTo>
                    <a:pt x="205105" y="2811018"/>
                  </a:lnTo>
                  <a:cubicBezTo>
                    <a:pt x="833120" y="2178558"/>
                    <a:pt x="1251331" y="1336167"/>
                    <a:pt x="1346073" y="400812"/>
                  </a:cubicBezTo>
                  <a:close/>
                </a:path>
              </a:pathLst>
            </a:custGeom>
            <a:solidFill>
              <a:srgbClr val="AAC3E8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2" y="-19050"/>
            <a:ext cx="1024110" cy="2250075"/>
            <a:chOff x="0" y="0"/>
            <a:chExt cx="1365480" cy="3000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5504" cy="3000121"/>
            </a:xfrm>
            <a:custGeom>
              <a:avLst/>
              <a:gdLst/>
              <a:ahLst/>
              <a:cxnLst/>
              <a:rect l="l" t="t" r="r" b="b"/>
              <a:pathLst>
                <a:path w="1365504" h="3000121">
                  <a:moveTo>
                    <a:pt x="0" y="0"/>
                  </a:moveTo>
                  <a:lnTo>
                    <a:pt x="1365504" y="0"/>
                  </a:lnTo>
                  <a:lnTo>
                    <a:pt x="1345311" y="400685"/>
                  </a:lnTo>
                  <a:cubicBezTo>
                    <a:pt x="1250569" y="1335913"/>
                    <a:pt x="832485" y="2178177"/>
                    <a:pt x="204597" y="2810510"/>
                  </a:cubicBezTo>
                  <a:lnTo>
                    <a:pt x="0" y="3000121"/>
                  </a:lnTo>
                  <a:close/>
                </a:path>
              </a:pathLst>
            </a:custGeom>
            <a:solidFill>
              <a:srgbClr val="F5CDCE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255667" y="471286"/>
            <a:ext cx="1162532" cy="1162531"/>
            <a:chOff x="0" y="0"/>
            <a:chExt cx="1550042" cy="155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0162" cy="1550162"/>
            </a:xfrm>
            <a:custGeom>
              <a:avLst/>
              <a:gdLst/>
              <a:ahLst/>
              <a:cxnLst/>
              <a:rect l="l" t="t" r="r" b="b"/>
              <a:pathLst>
                <a:path w="1550162" h="1550162">
                  <a:moveTo>
                    <a:pt x="775081" y="1550035"/>
                  </a:moveTo>
                  <a:cubicBezTo>
                    <a:pt x="1203071" y="1550035"/>
                    <a:pt x="1550162" y="1203071"/>
                    <a:pt x="1550162" y="774954"/>
                  </a:cubicBezTo>
                  <a:cubicBezTo>
                    <a:pt x="1550162" y="346837"/>
                    <a:pt x="1203071" y="0"/>
                    <a:pt x="775081" y="0"/>
                  </a:cubicBezTo>
                  <a:cubicBezTo>
                    <a:pt x="347091" y="0"/>
                    <a:pt x="0" y="346964"/>
                    <a:pt x="0" y="775081"/>
                  </a:cubicBezTo>
                  <a:cubicBezTo>
                    <a:pt x="0" y="1203198"/>
                    <a:pt x="346964" y="1550162"/>
                    <a:pt x="775081" y="1550162"/>
                  </a:cubicBezTo>
                  <a:close/>
                </a:path>
              </a:pathLst>
            </a:custGeom>
            <a:solidFill>
              <a:srgbClr val="1F2C8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7463024" y="1000125"/>
            <a:ext cx="468168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  <a:spcBef>
                <a:spcPct val="0"/>
              </a:spcBef>
            </a:pPr>
            <a:r>
              <a:rPr lang="en-US" sz="6770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  <a:endParaRPr lang="en-US" sz="6770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12122" y="3615625"/>
            <a:ext cx="12812465" cy="340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100" lvl="1" indent="-400050" algn="l">
              <a:lnSpc>
                <a:spcPts val="4445"/>
              </a:lnSpc>
              <a:spcBef>
                <a:spcPct val="0"/>
              </a:spcBef>
              <a:buFont typeface="Arial" panose="020B0604020202090204"/>
              <a:buChar char="•"/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Miles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tone 2 successfully translated processed data into structured insights.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445"/>
              </a:lnSpc>
              <a:spcBef>
                <a:spcPct val="0"/>
              </a:spcBef>
            </a:pPr>
          </a:p>
          <a:p>
            <a:pPr algn="l">
              <a:lnSpc>
                <a:spcPts val="4445"/>
              </a:lnSpc>
              <a:spcBef>
                <a:spcPct val="0"/>
              </a:spcBef>
            </a:pP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 The analytical findings are d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ocumen</a:t>
            </a:r>
            <a:r>
              <a:rPr lang="en-US" sz="3705" b="1">
                <a:solidFill>
                  <a:srgbClr val="17216B"/>
                </a:solidFill>
                <a:latin typeface="Arimo Bold"/>
                <a:ea typeface="Arimo Bold"/>
                <a:cs typeface="Arimo Bold"/>
                <a:sym typeface="Arimo Bold"/>
              </a:rPr>
              <a:t>ted, and a dashboard blueprint is ready for implementation in Tableau.</a:t>
            </a:r>
            <a:endParaRPr lang="en-US" sz="3705" b="1">
              <a:solidFill>
                <a:srgbClr val="17216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3968</Words>
  <Application>WPS Presentation</Application>
  <PresentationFormat>On-screen Show (4:3)</PresentationFormat>
  <Paragraphs>204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SimSun</vt:lpstr>
      <vt:lpstr>Wingdings</vt:lpstr>
      <vt:lpstr>Arial MT Pro Bold</vt:lpstr>
      <vt:lpstr>Arimo Bold Italics</vt:lpstr>
      <vt:lpstr>Arimo</vt:lpstr>
      <vt:lpstr>Arimo Bold</vt:lpstr>
      <vt:lpstr>Canva Sans Bold Italics</vt:lpstr>
      <vt:lpstr>Arial</vt:lpstr>
      <vt:lpstr>Canva Sans Bold</vt:lpstr>
      <vt:lpstr>Thonburi</vt:lpstr>
      <vt:lpstr>Calibri</vt:lpstr>
      <vt:lpstr>Helvetica Neue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milestone2</dc:title>
  <dc:creator/>
  <cp:lastModifiedBy>Garikapati Aishwarya</cp:lastModifiedBy>
  <cp:revision>2</cp:revision>
  <dcterms:created xsi:type="dcterms:W3CDTF">2026-02-27T06:40:32Z</dcterms:created>
  <dcterms:modified xsi:type="dcterms:W3CDTF">2026-02-27T06:40:32Z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63C0D5430ACD7942603CA169224CD033_42</vt:lpwstr>
  </property>
  <property fmtid="{D5CDD505-2E9C-101B-9397-08002B2CF9AE}" pid="3" name="KSOProductBuildVer">
    <vt:lpwstr>1033-12.1.23155.23155</vt:lpwstr>
  </property>
</Properties>
</file>