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ink/ink1.xml" ContentType="application/inkml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31"/>
  </p:notesMasterIdLst>
  <p:sldIdLst>
    <p:sldId id="256" r:id="rId2"/>
    <p:sldId id="257" r:id="rId3"/>
    <p:sldId id="258" r:id="rId4"/>
    <p:sldId id="259" r:id="rId5"/>
    <p:sldId id="275" r:id="rId6"/>
    <p:sldId id="260" r:id="rId7"/>
    <p:sldId id="261" r:id="rId8"/>
    <p:sldId id="277" r:id="rId9"/>
    <p:sldId id="278" r:id="rId10"/>
    <p:sldId id="279" r:id="rId11"/>
    <p:sldId id="280" r:id="rId12"/>
    <p:sldId id="262" r:id="rId13"/>
    <p:sldId id="263" r:id="rId14"/>
    <p:sldId id="281" r:id="rId15"/>
    <p:sldId id="282" r:id="rId16"/>
    <p:sldId id="283" r:id="rId17"/>
    <p:sldId id="264" r:id="rId18"/>
    <p:sldId id="265" r:id="rId19"/>
    <p:sldId id="266" r:id="rId20"/>
    <p:sldId id="267" r:id="rId21"/>
    <p:sldId id="268" r:id="rId22"/>
    <p:sldId id="269" r:id="rId23"/>
    <p:sldId id="284" r:id="rId24"/>
    <p:sldId id="286" r:id="rId25"/>
    <p:sldId id="287" r:id="rId26"/>
    <p:sldId id="290" r:id="rId27"/>
    <p:sldId id="291" r:id="rId28"/>
    <p:sldId id="292" r:id="rId29"/>
    <p:sldId id="274" r:id="rId30"/>
  </p:sldIdLst>
  <p:sldSz cx="14630400" cy="8229600"/>
  <p:notesSz cx="8229600" cy="14630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257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10"/>
  </p:normalViewPr>
  <p:slideViewPr>
    <p:cSldViewPr snapToGrid="0" snapToObjects="1">
      <p:cViewPr varScale="1">
        <p:scale>
          <a:sx n="66" d="100"/>
          <a:sy n="66" d="100"/>
        </p:scale>
        <p:origin x="749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06:19:34.99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1834 581 24575,'-51'-2'0,"1"-2"0,-80-16 0,-98-37 0,19 4 0,-572-107 0,521 112 0,249 46 0,0 0 0,0 1 0,0 0 0,0 0 0,-18 3 0,27-2 0,1 0 0,-1 0 0,0 1 0,0-1 0,0 1 0,1-1 0,-1 1 0,0 0 0,0 0 0,1 0 0,-1 0 0,1 0 0,-1 0 0,1 0 0,-1 0 0,1 0 0,0 1 0,-1-1 0,1 1 0,0-1 0,0 1 0,0-1 0,0 1 0,0 0 0,1-1 0,-1 1 0,0 0 0,1 0 0,-1 0 0,1 0 0,0-1 0,0 1 0,-1 0 0,1 0 0,0 0 0,1 0 0,-1 0 0,0-1 0,0 1 0,2 3 0,1 7 0,0-1 0,1 0 0,0-1 0,1 1 0,0-1 0,1 1 0,0-2 0,12 16 0,-4-8 0,1-1 0,0-1 0,31 24 0,-39-34 0,0 0 0,0-1 0,1-1 0,-1 1 0,1-1 0,0 0 0,0-1 0,1 0 0,-1 0 0,13 1 0,9-2 0,49-2 0,-39-1 0,23 0 0,-1-3 0,1-3 0,69-18 0,-101 19 0,-6 1 0,0 0 0,0-2 0,42-19 0,-51 20 0,0 0 0,0 1 0,1 1 0,-1 0 0,1 2 0,0 0 0,21-1 0,125 4 0,-77 3 0,-72-3 0,43 0 0,99 12 0,-35 2 0,1-6 0,150-8 0,-109-3 0,-145 3 0,185 6 0,-169-2 0,-1 1 0,1 1 0,-2 2 0,35 12 0,116 34 0,-57-19 0,48 5 0,-42-13 0,-33-1 0,1-5 0,1-4 0,124 5 0,-177-20 0,268-5 0,-309 1 0,-1 1 0,1-1 0,-1 0 0,1 0 0,-1-1 0,0 0 0,0 0 0,0 0 0,0-1 0,-1 0 0,1 0 0,-1 0 0,0-1 0,-1 0 0,8-8 0,-6 5 0,1-1 0,-1 0 0,0 0 0,-1 0 0,0-1 0,0 0 0,-1 0 0,-1 0 0,4-13 0,-6 15 0,0 0 0,-1-1 0,1 1 0,-1 0 0,-1 0 0,0 0 0,0-1 0,0 1 0,-1 0 0,-1 0 0,1 1 0,-1-1 0,0 0 0,-1 1 0,0 0 0,-9-13 0,-5-3 0,-1 0 0,-1 2 0,-31-26 0,20 17 0,11 14 0,0 1 0,0 1 0,-2 0 0,-41-18 0,36 19 0,1-1 0,-44-32 0,56 36 0,-1 0 0,-1 1 0,1 0 0,-1 2 0,-1 0 0,1 0 0,-1 2 0,-1 0 0,1 1 0,-25-2 0,-21 0 0,-100 4 0,103 3 0,-1738 1 0,927-3 0,863 1 0,0 0 0,-1 1 0,1 0 0,0 1 0,0-1 0,0 1 0,1 1 0,-1 0 0,-10 5 0,1 2 0,-1 2 0,-22 19 0,33-25 0,-29 22 0,1 2 0,1 1 0,-31 38 0,56-59 0,1 1 0,1-1 0,0 2 0,0-1 0,1 1 0,1 0 0,-1 0 0,2 1 0,0-1 0,1 1 0,0 0 0,1 0 0,0 0 0,1 0 0,0 19 0,2-28 0,0 0 0,0-1 0,0 1 0,0 0 0,0 0 0,1-1 0,0 1 0,0-1 0,0 0 0,0 1 0,0-1 0,1 0 0,-1 0 0,1-1 0,0 1 0,0 0 0,0-1 0,0 1 0,0-1 0,0 0 0,1 0 0,4 1 0,9 5 0,1-1 0,1 0 0,22 4 0,-27-7 0,22 4 0,1-1 0,0-2 0,42 0 0,117-7 0,-67-1 0,1190 4 0,-1311-2 0,28 2 0,-35 0 0,1-1 0,-1 0 0,1 0 0,0 1 0,-1-1 0,1 1 0,-1-1 0,1 1 0,-1-1 0,1 1 0,-1 0 0,1 0 0,-1 0 0,0 0 0,1 0 0,1 2 0,-3-2 0,0 0 0,0 0 0,0 0 0,0 0 0,0 0 0,0-1 0,0 1 0,0 0 0,-1 0 0,1 0 0,0 0 0,-1 0 0,1 0 0,0-1 0,-1 1 0,1 0 0,-1 0 0,1 0 0,-1-1 0,1 1 0,-1 0 0,0-1 0,1 1 0,-1-1 0,0 1 0,0-1 0,1 1 0,-1-1 0,0 1 0,0-1 0,0 1 0,0-1 0,-1 0 0,-34 17 0,34-17 0,-31 11 0,0-1 0,-1-2 0,-1-2 0,-64 5 0,-148-11 0,144-2 0,-879 1 0,962-1 0,1 0 0,0-1 0,-1 0 0,1-2 0,1 0 0,-24-11 0,-4 0 0,22 10 0,-42-6 0,9 2 0,21 3 0,-60-1 0,35 3 0,-26-11 0,24 3 0,63 13 0,0 0 0,0 0 0,1 0 0,-1 0 0,0 0 0,0 0 0,0 0 0,0 0 0,0 0 0,0 0 0,0 0 0,0 0 0,0 0 0,0 0 0,0 0 0,0 0 0,0 0 0,0-1 0,0 1 0,0 0 0,0 0 0,0 0 0,0 0 0,0 0 0,0 0 0,0 0 0,0 0 0,0 0 0,0 0 0,0 0 0,0 0 0,0 0 0,0 0 0,0 0 0,0-1 0,0 1 0,0 0 0,0 0 0,0 0 0,0 0 0,0 0 0,0 0 0,0 0 0,0 0 0,0 0 0,0 0 0,0 0 0,0 0 0,0 0 0,0 0 0,0 0 0,0 0 0,-1 0 0,13-5 0,15-2 0,460-71 0,7 39 0,98 10 0,-331-2 0,67-4 0,-299 34 0,1-2 0,-1-1 0,0-1 0,0-2 0,31-10 0,81-23 0,-29 10 0,10-1 0,-70 19 0,-16 6 0,65-5 0,-16 4 0,62-6 0,186 7 0,-212 7 0,-89 1 0,0 1 0,37 8 0,-34-4 0,54 3 0,-51-10 0,19 1 0,105 16 0,-119-12 0,-33-4 0,1 0 0,0 1 0,-1 0 0,1 0 0,11 5 0,-19-5 0,0-1 0,-1 1 0,1-1 0,0 1 0,-1 0 0,1 0 0,-1 0 0,0 0 0,1 0 0,-1 1 0,0-1 0,0 1 0,-1 0 0,1-1 0,-1 1 0,1 0 0,-1 0 0,0 0 0,0 0 0,0 0 0,1 6 0,1 23 0,0-1 0,-3 1 0,-4 49 0,0 1 0,4-73 0,0 7 0,-1 0 0,-4 26 0,4-36 0,-1-1 0,0 1 0,0 0 0,0 0 0,-1-1 0,0 0 0,0 1 0,0-1 0,0 0 0,-7 6 0,-7 7 0,-2-2 0,0 0 0,-1 0 0,0-2 0,-2-1 0,1 0 0,-1-2 0,-30 11 0,-30 8 0,-85 18 0,119-36 0,-5 3 0,0 1 0,-2-3 0,0-2 0,-86 7 0,-59-1 0,78-4 0,-9-1 0,-180 10 0,298-22 0,-56 0 0,-88 12 0,-3 2 0,-258-7 0,231-9 0,185 2 0,-43-4 0,27-3 0,17 6 0,1 1 0,0-1 0,0 1 0,-1 0 0,1-1 0,0 1 0,0-1 0,0 1 0,0-1 0,0 1 0,0-1 0,0 1 0,0 0 0,0-1 0,0 1 0,0-1 0,0 1 0,0-1 0,0 1 0,0-1 0,0 1 0,0-1 0,0 1 0,1 0 0,-1-1 0,0 1 0,0-1 0,0 1 0,1 0 0,-1-1 0,0 1 0,1 0 0,-1-1 0,0 1 0,1-1 0,11-11 0,1 0 0,1 0 0,0 1 0,0 1 0,1 0 0,30-15 0,1 4 0,56-17 0,-12 13 0,2 3 0,131-14 0,-144 23 0,-40 6 0,70-4 0,440 12 0,-533-2 0,1-1 0,0-1 0,-1-1 0,0 0 0,0-1 0,0-1 0,29-15 0,-19 9 0,42-13 0,-48 20 0,118-39 0,-90 19 0,-40 20 0,1 0 0,-1 1 0,1-1 0,1 2 0,-1-1 0,0 1 0,14-2 0,-8 3 0,0 0 0,0-1 0,0-1 0,0 0 0,25-12 0,-38 15 0,1 0 0,-1 0 0,1-1 0,-1 1 0,0-1 0,0 0 0,1 1 0,-1-1 0,-1 0 0,1 0 0,0 0 0,0-1 0,-1 1 0,1 0 0,-1-1 0,0 1 0,0-1 0,1 1 0,-2-1 0,1 1 0,0-1 0,0 0 0,-1 1 0,0-1 0,1 0 0,-1 0 0,0 1 0,-1-1 0,1 0 0,0 0 0,-1 1 0,1-1 0,-1 0 0,0 1 0,0-1 0,0 1 0,0-1 0,0 1 0,-3-4 0,-1-2 0,1 1 0,-1 0 0,0 1 0,0-1 0,0 1 0,-1 0 0,0 0 0,0 1 0,-1-1 0,0 1 0,0 1 0,0 0 0,0 0 0,-1 0 0,1 1 0,-1 0 0,0 0 0,0 1 0,-11-2 0,-12 0 0,-1 1 0,1 2 0,-60 5 0,18-1 0,-256-2 0,299 1 0,18 2 0,12-4 0,0 0 0,0 0 0,-1 0 0,1 1 0,0-1 0,0 0 0,0 0 0,0 0 0,0 1 0,0-1 0,0 0 0,0 0 0,0 0 0,0 1 0,0-1 0,0 0 0,0 0 0,0 1 0,0-1 0,0 0 0,0 0 0,0 0 0,0 0 0,1 1 0,-1-1 0,0 0 0,0 0 0,0 0 0,0 1 0,0-1 0,0 0 0,1 0 0,-1 0 0,0 0 0,0 0 0,0 0 0,0 1 0,1-1 0,-1 0 0,0 0 0,0 0 0,0 0 0,1 0 0,-1 0 0,0 0 0,0 0 0,1 0 0,20 10 0,2-2 0,-1 0 0,1-1 0,0-1 0,36 4 0,-18-3 0,42 7 0,0-4 0,1-3 0,0-4 0,106-9 0,-154 0-1365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896686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660973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687999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717239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897436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210643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718905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828529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99696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54505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450848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18990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customXml" Target="../ink/ink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climatescope.onrender.com/" TargetMode="Externa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2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8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9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0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442210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33F70"/>
                </a:solidFill>
                <a:latin typeface="Times New Roman" panose="02020603050405020304" pitchFamily="18" charset="0"/>
                <a:ea typeface="Unbounded Bold" pitchFamily="34" charset="-122"/>
                <a:cs typeface="Times New Roman" panose="02020603050405020304" pitchFamily="18" charset="0"/>
              </a:rPr>
              <a:t>ClimateScope</a:t>
            </a:r>
            <a:endParaRPr lang="en-US" sz="4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3790" y="3241715"/>
            <a:ext cx="13042821" cy="11339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4450"/>
              </a:lnSpc>
            </a:pPr>
            <a:r>
              <a:rPr lang="en-US" sz="3550" b="1" dirty="0">
                <a:solidFill>
                  <a:srgbClr val="333F70"/>
                </a:solidFill>
                <a:latin typeface="Times New Roman" panose="02020603050405020304" pitchFamily="18" charset="0"/>
                <a:ea typeface="Unbounded Bold" pitchFamily="34" charset="-122"/>
                <a:cs typeface="Times New Roman" panose="02020603050405020304" pitchFamily="18" charset="0"/>
              </a:rPr>
              <a:t>Visualizing Global Weather Trends &amp; Extreme Events</a:t>
            </a:r>
            <a:endParaRPr lang="en-US" sz="35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93790" y="4715828"/>
            <a:ext cx="13042821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550"/>
              </a:lnSpc>
            </a:pPr>
            <a:r>
              <a:rPr lang="en-US" sz="2400" b="1" dirty="0">
                <a:solidFill>
                  <a:srgbClr val="333F70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Mentor: </a:t>
            </a:r>
            <a:r>
              <a:rPr lang="en-US" sz="2400" dirty="0">
                <a:solidFill>
                  <a:srgbClr val="333F70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Shanmukha Priya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ts val="3550"/>
              </a:lnSpc>
              <a:buNone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793790" y="5424488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400" b="1" dirty="0">
                <a:solidFill>
                  <a:srgbClr val="333F70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Presented by:</a:t>
            </a:r>
            <a:r>
              <a:rPr lang="en-US" sz="2400" dirty="0">
                <a:solidFill>
                  <a:srgbClr val="333F70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 Gaurav Chauhan</a:t>
            </a:r>
          </a:p>
          <a:p>
            <a:pPr marL="0" indent="0" algn="l">
              <a:lnSpc>
                <a:spcPts val="2850"/>
              </a:lnSpc>
              <a:buNone/>
            </a:pPr>
            <a:endParaRPr lang="en-US" sz="2400" dirty="0">
              <a:solidFill>
                <a:srgbClr val="333F70"/>
              </a:solidFill>
              <a:latin typeface="Times New Roman" panose="02020603050405020304" pitchFamily="18" charset="0"/>
              <a:ea typeface="Open Sans" pitchFamily="34" charset="-122"/>
              <a:cs typeface="Times New Roman" panose="02020603050405020304" pitchFamily="18" charset="0"/>
            </a:endParaRPr>
          </a:p>
          <a:p>
            <a:pPr marL="0" indent="0" algn="l">
              <a:lnSpc>
                <a:spcPts val="2850"/>
              </a:lnSpc>
              <a:buNone/>
            </a:pPr>
            <a:r>
              <a:rPr lang="en-US" sz="2400" dirty="0">
                <a:solidFill>
                  <a:srgbClr val="333F70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Date : 31/3/2026</a:t>
            </a:r>
          </a:p>
          <a:p>
            <a:pPr marL="0" indent="0" algn="l">
              <a:lnSpc>
                <a:spcPts val="2850"/>
              </a:lnSpc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912144"/>
            <a:ext cx="606385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5400" b="1" dirty="0">
                <a:solidFill>
                  <a:srgbClr val="333F70"/>
                </a:solidFill>
                <a:latin typeface="Times New Roman" panose="02020603050405020304" pitchFamily="18" charset="0"/>
                <a:ea typeface="Unbounded Bold" pitchFamily="34" charset="-122"/>
                <a:cs typeface="Times New Roman" panose="02020603050405020304" pitchFamily="18" charset="0"/>
              </a:rPr>
              <a:t>Project Overview</a:t>
            </a:r>
            <a:endParaRPr lang="en-US" sz="5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3790" y="3187898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3200" b="1" dirty="0">
                <a:solidFill>
                  <a:srgbClr val="333F70"/>
                </a:solidFill>
                <a:latin typeface="Times New Roman" panose="02020603050405020304" pitchFamily="18" charset="0"/>
                <a:ea typeface="Unbounded Bold" pitchFamily="34" charset="-122"/>
                <a:cs typeface="Times New Roman" panose="02020603050405020304" pitchFamily="18" charset="0"/>
              </a:rPr>
              <a:t>Objective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93790" y="3840004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solidFill>
                  <a:srgbClr val="333F70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To analyze and visualize global weather patterns using an interactive dashboard.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7599521" y="3187898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3200" b="1" dirty="0">
                <a:solidFill>
                  <a:srgbClr val="333F70"/>
                </a:solidFill>
                <a:latin typeface="Times New Roman" panose="02020603050405020304" pitchFamily="18" charset="0"/>
                <a:ea typeface="Unbounded Bold" pitchFamily="34" charset="-122"/>
                <a:cs typeface="Times New Roman" panose="02020603050405020304" pitchFamily="18" charset="0"/>
              </a:rPr>
              <a:t>Key Goals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7599521" y="3840004"/>
            <a:ext cx="6244709" cy="16894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000" dirty="0">
                <a:solidFill>
                  <a:srgbClr val="333F70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Identify climate trends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000" dirty="0">
                <a:solidFill>
                  <a:srgbClr val="333F70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Detect extreme weather events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000" dirty="0">
                <a:solidFill>
                  <a:srgbClr val="333F70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Compare regions globally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000" dirty="0">
                <a:solidFill>
                  <a:srgbClr val="333F70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Build a decision-support system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793790" y="5863947"/>
            <a:ext cx="13042821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50"/>
              </a:lnSpc>
              <a:buNone/>
            </a:pPr>
            <a:r>
              <a:rPr lang="en-US" sz="2800" dirty="0">
                <a:solidFill>
                  <a:srgbClr val="333F70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Converts </a:t>
            </a:r>
            <a:r>
              <a:rPr lang="en-US" sz="2800" b="1" dirty="0">
                <a:solidFill>
                  <a:srgbClr val="333F70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raw climate data → actionable insights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922508" y="679490"/>
            <a:ext cx="3490079" cy="3979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2800" b="1" dirty="0">
                <a:solidFill>
                  <a:srgbClr val="333F70"/>
                </a:solidFill>
                <a:latin typeface="Times New Roman" panose="02020603050405020304" pitchFamily="18" charset="0"/>
                <a:ea typeface="Unbounded Bold" pitchFamily="34" charset="-122"/>
                <a:cs typeface="Times New Roman" panose="02020603050405020304" pitchFamily="18" charset="0"/>
              </a:rPr>
              <a:t>Project Workflow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2933819" y="1443395"/>
            <a:ext cx="2288262" cy="2387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2000" b="1" dirty="0">
                <a:solidFill>
                  <a:srgbClr val="333F70"/>
                </a:solidFill>
                <a:latin typeface="Times New Roman" panose="02020603050405020304" pitchFamily="18" charset="0"/>
                <a:ea typeface="Unbounded Bold" pitchFamily="34" charset="-122"/>
                <a:cs typeface="Times New Roman" panose="02020603050405020304" pitchFamily="18" charset="0"/>
              </a:rPr>
              <a:t>End-to-End Pipeline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3819" y="2056567"/>
            <a:ext cx="636627" cy="76390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30573" y="2135625"/>
            <a:ext cx="1591508" cy="1989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2400" b="1" dirty="0">
                <a:solidFill>
                  <a:srgbClr val="333F70"/>
                </a:solidFill>
                <a:latin typeface="Times New Roman" panose="02020603050405020304" pitchFamily="18" charset="0"/>
                <a:ea typeface="Unbounded Bold" pitchFamily="34" charset="-122"/>
                <a:cs typeface="Times New Roman" panose="02020603050405020304" pitchFamily="18" charset="0"/>
              </a:rPr>
              <a:t>Data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22508" y="2772252"/>
            <a:ext cx="636627" cy="76390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630573" y="2899530"/>
            <a:ext cx="1591508" cy="1989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2400" b="1" dirty="0">
                <a:solidFill>
                  <a:srgbClr val="333F70"/>
                </a:solidFill>
                <a:latin typeface="Times New Roman" panose="02020603050405020304" pitchFamily="18" charset="0"/>
                <a:ea typeface="Unbounded Bold" pitchFamily="34" charset="-122"/>
                <a:cs typeface="Times New Roman" panose="02020603050405020304" pitchFamily="18" charset="0"/>
              </a:rPr>
              <a:t>Cleaning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22508" y="3536157"/>
            <a:ext cx="636627" cy="763905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3630573" y="3663435"/>
            <a:ext cx="1591508" cy="1989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2400" b="1" dirty="0">
                <a:solidFill>
                  <a:srgbClr val="333F70"/>
                </a:solidFill>
                <a:latin typeface="Times New Roman" panose="02020603050405020304" pitchFamily="18" charset="0"/>
                <a:ea typeface="Unbounded Bold" pitchFamily="34" charset="-122"/>
                <a:cs typeface="Times New Roman" panose="02020603050405020304" pitchFamily="18" charset="0"/>
              </a:rPr>
              <a:t>Analysis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22508" y="4300062"/>
            <a:ext cx="636627" cy="763905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3630573" y="4427340"/>
            <a:ext cx="1591508" cy="1989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2400" b="1" dirty="0">
                <a:solidFill>
                  <a:srgbClr val="333F70"/>
                </a:solidFill>
                <a:latin typeface="Times New Roman" panose="02020603050405020304" pitchFamily="18" charset="0"/>
                <a:ea typeface="Unbounded Bold" pitchFamily="34" charset="-122"/>
                <a:cs typeface="Times New Roman" panose="02020603050405020304" pitchFamily="18" charset="0"/>
              </a:rPr>
              <a:t>Visualization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22508" y="5063967"/>
            <a:ext cx="636627" cy="763905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3630573" y="5191245"/>
            <a:ext cx="1591508" cy="1989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2400" b="1" dirty="0">
                <a:solidFill>
                  <a:srgbClr val="333F70"/>
                </a:solidFill>
                <a:latin typeface="Times New Roman" panose="02020603050405020304" pitchFamily="18" charset="0"/>
                <a:ea typeface="Unbounded Bold" pitchFamily="34" charset="-122"/>
                <a:cs typeface="Times New Roman" panose="02020603050405020304" pitchFamily="18" charset="0"/>
              </a:rPr>
              <a:t>Dashboard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22508" y="5827872"/>
            <a:ext cx="636627" cy="763905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3630573" y="5955150"/>
            <a:ext cx="1591508" cy="1989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2400" b="1" dirty="0">
                <a:solidFill>
                  <a:srgbClr val="333F70"/>
                </a:solidFill>
                <a:latin typeface="Times New Roman" panose="02020603050405020304" pitchFamily="18" charset="0"/>
                <a:ea typeface="Unbounded Bold" pitchFamily="34" charset="-122"/>
                <a:cs typeface="Times New Roman" panose="02020603050405020304" pitchFamily="18" charset="0"/>
              </a:rPr>
              <a:t>Insights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8"/>
          <p:cNvSpPr/>
          <p:nvPr/>
        </p:nvSpPr>
        <p:spPr>
          <a:xfrm>
            <a:off x="6607135" y="2109256"/>
            <a:ext cx="1909882" cy="502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3200" b="1" dirty="0">
                <a:solidFill>
                  <a:srgbClr val="333F70"/>
                </a:solidFill>
                <a:latin typeface="Times New Roman" panose="02020603050405020304" pitchFamily="18" charset="0"/>
                <a:ea typeface="Unbounded Bold" pitchFamily="34" charset="-122"/>
                <a:cs typeface="Times New Roman" panose="02020603050405020304" pitchFamily="18" charset="0"/>
              </a:rPr>
              <a:t>Steps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9"/>
          <p:cNvSpPr/>
          <p:nvPr/>
        </p:nvSpPr>
        <p:spPr>
          <a:xfrm>
            <a:off x="6607135" y="2557395"/>
            <a:ext cx="8785384" cy="22720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250"/>
              </a:lnSpc>
              <a:buSzPct val="100000"/>
              <a:buChar char="•"/>
            </a:pPr>
            <a:r>
              <a:rPr lang="en-US" sz="2000" dirty="0">
                <a:solidFill>
                  <a:srgbClr val="333F70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Data Acquisition (Kaggle API)</a:t>
            </a:r>
          </a:p>
          <a:p>
            <a:pPr marL="342900" indent="-342900" algn="l">
              <a:lnSpc>
                <a:spcPts val="1250"/>
              </a:lnSpc>
              <a:buSzPct val="10000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ts val="1250"/>
              </a:lnSpc>
              <a:buSzPct val="100000"/>
              <a:buChar char="•"/>
            </a:pPr>
            <a:r>
              <a:rPr lang="en-US" sz="2000" dirty="0">
                <a:solidFill>
                  <a:srgbClr val="333F70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Data Cleaning &amp; Preprocessing</a:t>
            </a:r>
          </a:p>
          <a:p>
            <a:pPr marL="342900" indent="-342900" algn="l">
              <a:lnSpc>
                <a:spcPts val="1250"/>
              </a:lnSpc>
              <a:buSzPct val="10000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ts val="1250"/>
              </a:lnSpc>
              <a:buSzPct val="100000"/>
              <a:buChar char="•"/>
            </a:pPr>
            <a:r>
              <a:rPr lang="en-US" sz="2000" dirty="0">
                <a:solidFill>
                  <a:srgbClr val="333F70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Analysis &amp; Feature Engineering</a:t>
            </a:r>
          </a:p>
          <a:p>
            <a:pPr marL="342900" indent="-342900" algn="l">
              <a:lnSpc>
                <a:spcPts val="1250"/>
              </a:lnSpc>
              <a:buSzPct val="10000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ts val="1250"/>
              </a:lnSpc>
              <a:buSzPct val="100000"/>
              <a:buChar char="•"/>
            </a:pPr>
            <a:r>
              <a:rPr lang="en-US" sz="2000" dirty="0">
                <a:solidFill>
                  <a:srgbClr val="333F70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Visualization Design</a:t>
            </a:r>
          </a:p>
          <a:p>
            <a:pPr marL="342900" indent="-342900" algn="l">
              <a:lnSpc>
                <a:spcPts val="1250"/>
              </a:lnSpc>
              <a:buSzPct val="10000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ts val="1250"/>
              </a:lnSpc>
              <a:buSzPct val="100000"/>
              <a:buChar char="•"/>
            </a:pPr>
            <a:r>
              <a:rPr lang="en-US" sz="2000" dirty="0">
                <a:solidFill>
                  <a:srgbClr val="333F70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Dashboard Development</a:t>
            </a:r>
          </a:p>
          <a:p>
            <a:pPr marL="342900" indent="-342900" algn="l">
              <a:lnSpc>
                <a:spcPts val="1250"/>
              </a:lnSpc>
              <a:buSzPct val="10000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ts val="1250"/>
              </a:lnSpc>
              <a:buSzPct val="100000"/>
              <a:buChar char="•"/>
            </a:pPr>
            <a:r>
              <a:rPr lang="en-US" sz="2000" dirty="0">
                <a:solidFill>
                  <a:srgbClr val="333F70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Deployment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14895" y="2170221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5400" b="1" dirty="0">
                <a:solidFill>
                  <a:srgbClr val="333F70"/>
                </a:solidFill>
                <a:latin typeface="Times New Roman" panose="02020603050405020304" pitchFamily="18" charset="0"/>
                <a:ea typeface="Unbounded Bold" pitchFamily="34" charset="-122"/>
                <a:cs typeface="Times New Roman" panose="02020603050405020304" pitchFamily="18" charset="0"/>
              </a:rPr>
              <a:t>Tech </a:t>
            </a:r>
            <a:r>
              <a:rPr lang="en-US" sz="5400" b="1" dirty="0">
                <a:solidFill>
                  <a:srgbClr val="002570"/>
                </a:solidFill>
                <a:latin typeface="Times New Roman" panose="02020603050405020304" pitchFamily="18" charset="0"/>
                <a:ea typeface="Unbounded Bold" pitchFamily="34" charset="-122"/>
                <a:cs typeface="Times New Roman" panose="02020603050405020304" pitchFamily="18" charset="0"/>
              </a:rPr>
              <a:t>Stack</a:t>
            </a:r>
            <a:endParaRPr lang="en-US" sz="5400" dirty="0">
              <a:solidFill>
                <a:srgbClr val="00257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1214895" y="3462694"/>
            <a:ext cx="3900726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3200" b="1" dirty="0">
                <a:solidFill>
                  <a:srgbClr val="333F70"/>
                </a:solidFill>
                <a:latin typeface="Times New Roman" panose="02020603050405020304" pitchFamily="18" charset="0"/>
                <a:ea typeface="Unbounded Bold" pitchFamily="34" charset="-122"/>
                <a:cs typeface="Times New Roman" panose="02020603050405020304" pitchFamily="18" charset="0"/>
              </a:rPr>
              <a:t>Core Technologies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1214895" y="4114800"/>
            <a:ext cx="6244709" cy="16894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000" dirty="0">
                <a:solidFill>
                  <a:srgbClr val="333F70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Python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000" dirty="0">
                <a:solidFill>
                  <a:srgbClr val="333F70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Pandas, NumPy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000" dirty="0">
                <a:solidFill>
                  <a:srgbClr val="333F70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Plotly (visualization)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000" dirty="0">
                <a:solidFill>
                  <a:srgbClr val="333F70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Streamlit (dashboard)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6095574" y="3542228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3200" b="1" dirty="0">
                <a:solidFill>
                  <a:srgbClr val="333F70"/>
                </a:solidFill>
                <a:latin typeface="Times New Roman" panose="02020603050405020304" pitchFamily="18" charset="0"/>
                <a:ea typeface="Unbounded Bold" pitchFamily="34" charset="-122"/>
                <a:cs typeface="Times New Roman" panose="02020603050405020304" pitchFamily="18" charset="0"/>
              </a:rPr>
              <a:t>Advanced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6095574" y="4194334"/>
            <a:ext cx="6244709" cy="12472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000" dirty="0">
                <a:solidFill>
                  <a:srgbClr val="333F70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SciPy → Forecasting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000" dirty="0">
                <a:solidFill>
                  <a:srgbClr val="333F70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Kaggle API → Data integration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000" dirty="0">
                <a:solidFill>
                  <a:srgbClr val="333F70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Render → Deployment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E233C9FB-11E4-53B0-F120-7B959F56EEA3}"/>
              </a:ext>
            </a:extLst>
          </p:cNvPr>
          <p:cNvSpPr/>
          <p:nvPr/>
        </p:nvSpPr>
        <p:spPr>
          <a:xfrm>
            <a:off x="883206" y="1079087"/>
            <a:ext cx="7308056" cy="5825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550"/>
              </a:lnSpc>
              <a:buNone/>
            </a:pPr>
            <a:r>
              <a:rPr lang="en-US" sz="3200" b="1" dirty="0">
                <a:solidFill>
                  <a:srgbClr val="002060"/>
                </a:solidFill>
                <a:latin typeface="Times New Roman" panose="02020603050405020304" pitchFamily="18" charset="0"/>
                <a:ea typeface="Montserrat Medium" pitchFamily="34" charset="-122"/>
                <a:cs typeface="Times New Roman" panose="02020603050405020304" pitchFamily="18" charset="0"/>
              </a:rPr>
              <a:t>Data Cleaning &amp; Preprocessing</a:t>
            </a:r>
            <a:endParaRPr lang="en-US" sz="32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18CE96CF-F4C8-F33D-B207-4781C387DE75}"/>
              </a:ext>
            </a:extLst>
          </p:cNvPr>
          <p:cNvSpPr/>
          <p:nvPr/>
        </p:nvSpPr>
        <p:spPr>
          <a:xfrm>
            <a:off x="883206" y="2171009"/>
            <a:ext cx="6355318" cy="1330047"/>
          </a:xfrm>
          <a:prstGeom prst="roundRect">
            <a:avLst>
              <a:gd name="adj" fmla="val 8250"/>
            </a:avLst>
          </a:prstGeom>
          <a:solidFill>
            <a:srgbClr val="FFFFFF"/>
          </a:solidFill>
          <a:ln/>
        </p:spPr>
      </p:sp>
      <p:pic>
        <p:nvPicPr>
          <p:cNvPr id="5" name="Image 1" descr="preencoded.png">
            <a:extLst>
              <a:ext uri="{FF2B5EF4-FFF2-40B4-BE49-F238E27FC236}">
                <a16:creationId xmlns:a16="http://schemas.microsoft.com/office/drawing/2014/main" id="{CDE86716-6517-FA12-D197-5AA7839EDB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3206" y="2148149"/>
            <a:ext cx="6355318" cy="91440"/>
          </a:xfrm>
          <a:prstGeom prst="rect">
            <a:avLst/>
          </a:prstGeom>
        </p:spPr>
      </p:pic>
      <p:pic>
        <p:nvPicPr>
          <p:cNvPr id="6" name="Image 2" descr="preencoded.png">
            <a:extLst>
              <a:ext uri="{FF2B5EF4-FFF2-40B4-BE49-F238E27FC236}">
                <a16:creationId xmlns:a16="http://schemas.microsoft.com/office/drawing/2014/main" id="{35A3E3E4-3558-BC5F-1922-3A2C747080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81246" y="1891450"/>
            <a:ext cx="559237" cy="559237"/>
          </a:xfrm>
          <a:prstGeom prst="rect">
            <a:avLst/>
          </a:prstGeom>
        </p:spPr>
      </p:pic>
      <p:sp>
        <p:nvSpPr>
          <p:cNvPr id="7" name="Text 2">
            <a:extLst>
              <a:ext uri="{FF2B5EF4-FFF2-40B4-BE49-F238E27FC236}">
                <a16:creationId xmlns:a16="http://schemas.microsoft.com/office/drawing/2014/main" id="{D6D3CA54-DD71-349E-827B-21F7621585C7}"/>
              </a:ext>
            </a:extLst>
          </p:cNvPr>
          <p:cNvSpPr/>
          <p:nvPr/>
        </p:nvSpPr>
        <p:spPr>
          <a:xfrm>
            <a:off x="3949005" y="2031230"/>
            <a:ext cx="223718" cy="2795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400" dirty="0">
                <a:solidFill>
                  <a:srgbClr val="002060"/>
                </a:solidFill>
                <a:latin typeface="Times New Roman" panose="02020603050405020304" pitchFamily="18" charset="0"/>
                <a:ea typeface="Montserrat Medium" pitchFamily="34" charset="-122"/>
                <a:cs typeface="Times New Roman" panose="02020603050405020304" pitchFamily="18" charset="0"/>
              </a:rPr>
              <a:t>1</a:t>
            </a:r>
            <a:endParaRPr lang="en-US" sz="24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3">
            <a:extLst>
              <a:ext uri="{FF2B5EF4-FFF2-40B4-BE49-F238E27FC236}">
                <a16:creationId xmlns:a16="http://schemas.microsoft.com/office/drawing/2014/main" id="{DD5F58C3-669D-41CD-5960-B235D37458CA}"/>
              </a:ext>
            </a:extLst>
          </p:cNvPr>
          <p:cNvSpPr/>
          <p:nvPr/>
        </p:nvSpPr>
        <p:spPr>
          <a:xfrm>
            <a:off x="1092398" y="2637020"/>
            <a:ext cx="2659142" cy="2912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2400" dirty="0">
                <a:solidFill>
                  <a:srgbClr val="002060"/>
                </a:solidFill>
                <a:latin typeface="Times New Roman" panose="02020603050405020304" pitchFamily="18" charset="0"/>
                <a:ea typeface="Montserrat Medium" pitchFamily="34" charset="-122"/>
                <a:cs typeface="Times New Roman" panose="02020603050405020304" pitchFamily="18" charset="0"/>
              </a:rPr>
              <a:t>Handle Missing Values</a:t>
            </a:r>
            <a:endParaRPr lang="en-US" sz="24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4">
            <a:extLst>
              <a:ext uri="{FF2B5EF4-FFF2-40B4-BE49-F238E27FC236}">
                <a16:creationId xmlns:a16="http://schemas.microsoft.com/office/drawing/2014/main" id="{B3006C55-6027-5DD4-E951-748F0F9AEEFE}"/>
              </a:ext>
            </a:extLst>
          </p:cNvPr>
          <p:cNvSpPr/>
          <p:nvPr/>
        </p:nvSpPr>
        <p:spPr>
          <a:xfrm>
            <a:off x="1092398" y="3020163"/>
            <a:ext cx="5936933" cy="271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2400" dirty="0">
                <a:solidFill>
                  <a:srgbClr val="002060"/>
                </a:solidFill>
                <a:latin typeface="Times New Roman" panose="02020603050405020304" pitchFamily="18" charset="0"/>
                <a:ea typeface="Inter Light" pitchFamily="34" charset="-122"/>
                <a:cs typeface="Times New Roman" panose="02020603050405020304" pitchFamily="18" charset="0"/>
              </a:rPr>
              <a:t>Strategically addressed nulls in key fields.</a:t>
            </a:r>
            <a:endParaRPr lang="en-US" sz="24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5">
            <a:extLst>
              <a:ext uri="{FF2B5EF4-FFF2-40B4-BE49-F238E27FC236}">
                <a16:creationId xmlns:a16="http://schemas.microsoft.com/office/drawing/2014/main" id="{1722C201-63BA-5CE0-9232-AF3D7DF189DC}"/>
              </a:ext>
            </a:extLst>
          </p:cNvPr>
          <p:cNvSpPr/>
          <p:nvPr/>
        </p:nvSpPr>
        <p:spPr>
          <a:xfrm>
            <a:off x="7391638" y="2171009"/>
            <a:ext cx="6355437" cy="1330047"/>
          </a:xfrm>
          <a:prstGeom prst="roundRect">
            <a:avLst>
              <a:gd name="adj" fmla="val 8250"/>
            </a:avLst>
          </a:prstGeom>
          <a:solidFill>
            <a:srgbClr val="FFFFFF"/>
          </a:solidFill>
          <a:ln/>
        </p:spPr>
      </p:sp>
      <p:pic>
        <p:nvPicPr>
          <p:cNvPr id="11" name="Image 3" descr="preencoded.png">
            <a:extLst>
              <a:ext uri="{FF2B5EF4-FFF2-40B4-BE49-F238E27FC236}">
                <a16:creationId xmlns:a16="http://schemas.microsoft.com/office/drawing/2014/main" id="{9E272AB0-EA68-A2C9-D30C-5252A5B2DD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1638" y="2148149"/>
            <a:ext cx="6355437" cy="91440"/>
          </a:xfrm>
          <a:prstGeom prst="rect">
            <a:avLst/>
          </a:prstGeom>
        </p:spPr>
      </p:pic>
      <p:pic>
        <p:nvPicPr>
          <p:cNvPr id="12" name="Image 4" descr="preencoded.png">
            <a:extLst>
              <a:ext uri="{FF2B5EF4-FFF2-40B4-BE49-F238E27FC236}">
                <a16:creationId xmlns:a16="http://schemas.microsoft.com/office/drawing/2014/main" id="{5C762C2A-F102-A042-537A-6D6AD794A6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9679" y="1891450"/>
            <a:ext cx="559237" cy="559237"/>
          </a:xfrm>
          <a:prstGeom prst="rect">
            <a:avLst/>
          </a:prstGeom>
        </p:spPr>
      </p:pic>
      <p:sp>
        <p:nvSpPr>
          <p:cNvPr id="13" name="Text 6">
            <a:extLst>
              <a:ext uri="{FF2B5EF4-FFF2-40B4-BE49-F238E27FC236}">
                <a16:creationId xmlns:a16="http://schemas.microsoft.com/office/drawing/2014/main" id="{3A935DE0-46FA-4133-3197-F132CAB84E13}"/>
              </a:ext>
            </a:extLst>
          </p:cNvPr>
          <p:cNvSpPr/>
          <p:nvPr/>
        </p:nvSpPr>
        <p:spPr>
          <a:xfrm>
            <a:off x="10457438" y="2031230"/>
            <a:ext cx="223718" cy="2795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400" dirty="0">
                <a:solidFill>
                  <a:srgbClr val="002060"/>
                </a:solidFill>
                <a:latin typeface="Times New Roman" panose="02020603050405020304" pitchFamily="18" charset="0"/>
                <a:ea typeface="Montserrat Medium" pitchFamily="34" charset="-122"/>
                <a:cs typeface="Times New Roman" panose="02020603050405020304" pitchFamily="18" charset="0"/>
              </a:rPr>
              <a:t>2</a:t>
            </a:r>
            <a:endParaRPr lang="en-US" sz="24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7">
            <a:extLst>
              <a:ext uri="{FF2B5EF4-FFF2-40B4-BE49-F238E27FC236}">
                <a16:creationId xmlns:a16="http://schemas.microsoft.com/office/drawing/2014/main" id="{B34CE8B1-B72E-7C51-C9BB-0D916D621D2B}"/>
              </a:ext>
            </a:extLst>
          </p:cNvPr>
          <p:cNvSpPr/>
          <p:nvPr/>
        </p:nvSpPr>
        <p:spPr>
          <a:xfrm>
            <a:off x="7600831" y="2637020"/>
            <a:ext cx="2330410" cy="2912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2400" dirty="0">
                <a:solidFill>
                  <a:srgbClr val="002060"/>
                </a:solidFill>
                <a:latin typeface="Times New Roman" panose="02020603050405020304" pitchFamily="18" charset="0"/>
                <a:ea typeface="Montserrat Medium" pitchFamily="34" charset="-122"/>
                <a:cs typeface="Times New Roman" panose="02020603050405020304" pitchFamily="18" charset="0"/>
              </a:rPr>
              <a:t>Remove Duplicates</a:t>
            </a:r>
            <a:endParaRPr lang="en-US" sz="24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8">
            <a:extLst>
              <a:ext uri="{FF2B5EF4-FFF2-40B4-BE49-F238E27FC236}">
                <a16:creationId xmlns:a16="http://schemas.microsoft.com/office/drawing/2014/main" id="{DEC6670C-1B4E-A5D0-0CF3-C723AFF08CC1}"/>
              </a:ext>
            </a:extLst>
          </p:cNvPr>
          <p:cNvSpPr/>
          <p:nvPr/>
        </p:nvSpPr>
        <p:spPr>
          <a:xfrm>
            <a:off x="7600831" y="3020163"/>
            <a:ext cx="5937052" cy="271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2400" dirty="0">
                <a:solidFill>
                  <a:srgbClr val="002060"/>
                </a:solidFill>
                <a:latin typeface="Times New Roman" panose="02020603050405020304" pitchFamily="18" charset="0"/>
                <a:ea typeface="Inter Light" pitchFamily="34" charset="-122"/>
                <a:cs typeface="Times New Roman" panose="02020603050405020304" pitchFamily="18" charset="0"/>
              </a:rPr>
              <a:t>Ensured unique records for accuracy.</a:t>
            </a:r>
            <a:endParaRPr lang="en-US" sz="24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9">
            <a:extLst>
              <a:ext uri="{FF2B5EF4-FFF2-40B4-BE49-F238E27FC236}">
                <a16:creationId xmlns:a16="http://schemas.microsoft.com/office/drawing/2014/main" id="{9A9FEC76-E51A-9203-F685-1C863533ECDE}"/>
              </a:ext>
            </a:extLst>
          </p:cNvPr>
          <p:cNvSpPr/>
          <p:nvPr/>
        </p:nvSpPr>
        <p:spPr>
          <a:xfrm>
            <a:off x="883206" y="3933729"/>
            <a:ext cx="6355318" cy="1330047"/>
          </a:xfrm>
          <a:prstGeom prst="roundRect">
            <a:avLst>
              <a:gd name="adj" fmla="val 8250"/>
            </a:avLst>
          </a:prstGeom>
          <a:solidFill>
            <a:srgbClr val="FFFFFF"/>
          </a:solidFill>
          <a:ln/>
        </p:spPr>
      </p:sp>
      <p:pic>
        <p:nvPicPr>
          <p:cNvPr id="17" name="Image 5" descr="preencoded.png">
            <a:extLst>
              <a:ext uri="{FF2B5EF4-FFF2-40B4-BE49-F238E27FC236}">
                <a16:creationId xmlns:a16="http://schemas.microsoft.com/office/drawing/2014/main" id="{6B35BB30-F291-8410-F134-2C59B360BA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3206" y="3910869"/>
            <a:ext cx="6355318" cy="91440"/>
          </a:xfrm>
          <a:prstGeom prst="rect">
            <a:avLst/>
          </a:prstGeom>
        </p:spPr>
      </p:pic>
      <p:pic>
        <p:nvPicPr>
          <p:cNvPr id="18" name="Image 6" descr="preencoded.png">
            <a:extLst>
              <a:ext uri="{FF2B5EF4-FFF2-40B4-BE49-F238E27FC236}">
                <a16:creationId xmlns:a16="http://schemas.microsoft.com/office/drawing/2014/main" id="{7ED245C9-B7C8-6349-2A9E-F959362803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81246" y="3654171"/>
            <a:ext cx="559237" cy="559237"/>
          </a:xfrm>
          <a:prstGeom prst="rect">
            <a:avLst/>
          </a:prstGeom>
        </p:spPr>
      </p:pic>
      <p:sp>
        <p:nvSpPr>
          <p:cNvPr id="19" name="Text 10">
            <a:extLst>
              <a:ext uri="{FF2B5EF4-FFF2-40B4-BE49-F238E27FC236}">
                <a16:creationId xmlns:a16="http://schemas.microsoft.com/office/drawing/2014/main" id="{5EB36A49-C7BC-BB3C-4D11-0C2995570AB5}"/>
              </a:ext>
            </a:extLst>
          </p:cNvPr>
          <p:cNvSpPr/>
          <p:nvPr/>
        </p:nvSpPr>
        <p:spPr>
          <a:xfrm>
            <a:off x="3949005" y="3793950"/>
            <a:ext cx="223718" cy="2795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400" dirty="0">
                <a:solidFill>
                  <a:srgbClr val="002060"/>
                </a:solidFill>
                <a:latin typeface="Times New Roman" panose="02020603050405020304" pitchFamily="18" charset="0"/>
                <a:ea typeface="Montserrat Medium" pitchFamily="34" charset="-122"/>
                <a:cs typeface="Times New Roman" panose="02020603050405020304" pitchFamily="18" charset="0"/>
              </a:rPr>
              <a:t>3</a:t>
            </a:r>
            <a:endParaRPr lang="en-US" sz="24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1">
            <a:extLst>
              <a:ext uri="{FF2B5EF4-FFF2-40B4-BE49-F238E27FC236}">
                <a16:creationId xmlns:a16="http://schemas.microsoft.com/office/drawing/2014/main" id="{36246828-C629-5AEC-E2D5-643DE528E5DF}"/>
              </a:ext>
            </a:extLst>
          </p:cNvPr>
          <p:cNvSpPr/>
          <p:nvPr/>
        </p:nvSpPr>
        <p:spPr>
          <a:xfrm>
            <a:off x="1092398" y="4399740"/>
            <a:ext cx="2458998" cy="2912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2400" dirty="0">
                <a:solidFill>
                  <a:srgbClr val="002060"/>
                </a:solidFill>
                <a:latin typeface="Times New Roman" panose="02020603050405020304" pitchFamily="18" charset="0"/>
                <a:ea typeface="Montserrat Medium" pitchFamily="34" charset="-122"/>
                <a:cs typeface="Times New Roman" panose="02020603050405020304" pitchFamily="18" charset="0"/>
              </a:rPr>
              <a:t>Standardize Formats</a:t>
            </a:r>
            <a:endParaRPr lang="en-US" sz="24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2">
            <a:extLst>
              <a:ext uri="{FF2B5EF4-FFF2-40B4-BE49-F238E27FC236}">
                <a16:creationId xmlns:a16="http://schemas.microsoft.com/office/drawing/2014/main" id="{C84F3671-9EB3-BC14-7D25-18245EDC4639}"/>
              </a:ext>
            </a:extLst>
          </p:cNvPr>
          <p:cNvSpPr/>
          <p:nvPr/>
        </p:nvSpPr>
        <p:spPr>
          <a:xfrm>
            <a:off x="1092398" y="4782883"/>
            <a:ext cx="5936933" cy="271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2400" dirty="0">
                <a:solidFill>
                  <a:srgbClr val="002060"/>
                </a:solidFill>
                <a:latin typeface="Times New Roman" panose="02020603050405020304" pitchFamily="18" charset="0"/>
                <a:ea typeface="Inter Light" pitchFamily="34" charset="-122"/>
                <a:cs typeface="Times New Roman" panose="02020603050405020304" pitchFamily="18" charset="0"/>
              </a:rPr>
              <a:t>Uniform column formats and date conversions.</a:t>
            </a:r>
            <a:endParaRPr lang="en-US" sz="24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Shape 13">
            <a:extLst>
              <a:ext uri="{FF2B5EF4-FFF2-40B4-BE49-F238E27FC236}">
                <a16:creationId xmlns:a16="http://schemas.microsoft.com/office/drawing/2014/main" id="{45E4B892-3155-A34D-837D-17081148AD22}"/>
              </a:ext>
            </a:extLst>
          </p:cNvPr>
          <p:cNvSpPr/>
          <p:nvPr/>
        </p:nvSpPr>
        <p:spPr>
          <a:xfrm>
            <a:off x="7391638" y="3933729"/>
            <a:ext cx="6355437" cy="1330047"/>
          </a:xfrm>
          <a:prstGeom prst="roundRect">
            <a:avLst>
              <a:gd name="adj" fmla="val 8250"/>
            </a:avLst>
          </a:prstGeom>
          <a:solidFill>
            <a:srgbClr val="FFFFFF"/>
          </a:solidFill>
          <a:ln/>
        </p:spPr>
      </p:sp>
      <p:pic>
        <p:nvPicPr>
          <p:cNvPr id="23" name="Image 7" descr="preencoded.png">
            <a:extLst>
              <a:ext uri="{FF2B5EF4-FFF2-40B4-BE49-F238E27FC236}">
                <a16:creationId xmlns:a16="http://schemas.microsoft.com/office/drawing/2014/main" id="{7AB50707-19B6-7CD6-4CCF-054FA4334A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1638" y="3910869"/>
            <a:ext cx="6355437" cy="91440"/>
          </a:xfrm>
          <a:prstGeom prst="rect">
            <a:avLst/>
          </a:prstGeom>
        </p:spPr>
      </p:pic>
      <p:pic>
        <p:nvPicPr>
          <p:cNvPr id="24" name="Image 8" descr="preencoded.png">
            <a:extLst>
              <a:ext uri="{FF2B5EF4-FFF2-40B4-BE49-F238E27FC236}">
                <a16:creationId xmlns:a16="http://schemas.microsoft.com/office/drawing/2014/main" id="{D413D05F-D0BD-9182-D8B9-9CE730210A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9679" y="3654171"/>
            <a:ext cx="559237" cy="559237"/>
          </a:xfrm>
          <a:prstGeom prst="rect">
            <a:avLst/>
          </a:prstGeom>
        </p:spPr>
      </p:pic>
      <p:sp>
        <p:nvSpPr>
          <p:cNvPr id="25" name="Text 14">
            <a:extLst>
              <a:ext uri="{FF2B5EF4-FFF2-40B4-BE49-F238E27FC236}">
                <a16:creationId xmlns:a16="http://schemas.microsoft.com/office/drawing/2014/main" id="{5D6E5DB8-EBBE-7CCB-12CE-3C424A3BF940}"/>
              </a:ext>
            </a:extLst>
          </p:cNvPr>
          <p:cNvSpPr/>
          <p:nvPr/>
        </p:nvSpPr>
        <p:spPr>
          <a:xfrm>
            <a:off x="10457438" y="3793950"/>
            <a:ext cx="223718" cy="2795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400" dirty="0">
                <a:solidFill>
                  <a:srgbClr val="002060"/>
                </a:solidFill>
                <a:latin typeface="Times New Roman" panose="02020603050405020304" pitchFamily="18" charset="0"/>
                <a:ea typeface="Montserrat Medium" pitchFamily="34" charset="-122"/>
                <a:cs typeface="Times New Roman" panose="02020603050405020304" pitchFamily="18" charset="0"/>
              </a:rPr>
              <a:t>4</a:t>
            </a:r>
            <a:endParaRPr lang="en-US" sz="24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15">
            <a:extLst>
              <a:ext uri="{FF2B5EF4-FFF2-40B4-BE49-F238E27FC236}">
                <a16:creationId xmlns:a16="http://schemas.microsoft.com/office/drawing/2014/main" id="{55C79A42-FA18-D236-2B4D-EAA2AD352FF4}"/>
              </a:ext>
            </a:extLst>
          </p:cNvPr>
          <p:cNvSpPr/>
          <p:nvPr/>
        </p:nvSpPr>
        <p:spPr>
          <a:xfrm>
            <a:off x="7600831" y="4399740"/>
            <a:ext cx="2330410" cy="2912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2400" dirty="0">
                <a:solidFill>
                  <a:srgbClr val="002060"/>
                </a:solidFill>
                <a:latin typeface="Times New Roman" panose="02020603050405020304" pitchFamily="18" charset="0"/>
                <a:ea typeface="Montserrat Medium" pitchFamily="34" charset="-122"/>
                <a:cs typeface="Times New Roman" panose="02020603050405020304" pitchFamily="18" charset="0"/>
              </a:rPr>
              <a:t>Fix Inconsistencies</a:t>
            </a:r>
            <a:endParaRPr lang="en-US" sz="24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16">
            <a:extLst>
              <a:ext uri="{FF2B5EF4-FFF2-40B4-BE49-F238E27FC236}">
                <a16:creationId xmlns:a16="http://schemas.microsoft.com/office/drawing/2014/main" id="{A45ED039-6C15-B72F-28FA-379BE9DB7E70}"/>
              </a:ext>
            </a:extLst>
          </p:cNvPr>
          <p:cNvSpPr/>
          <p:nvPr/>
        </p:nvSpPr>
        <p:spPr>
          <a:xfrm>
            <a:off x="7600831" y="4782883"/>
            <a:ext cx="5937052" cy="271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2400" dirty="0">
                <a:solidFill>
                  <a:srgbClr val="002060"/>
                </a:solidFill>
                <a:latin typeface="Times New Roman" panose="02020603050405020304" pitchFamily="18" charset="0"/>
                <a:ea typeface="Inter Light" pitchFamily="34" charset="-122"/>
                <a:cs typeface="Times New Roman" panose="02020603050405020304" pitchFamily="18" charset="0"/>
              </a:rPr>
              <a:t>Corrected erroneous entries, especially location data.</a:t>
            </a:r>
            <a:endParaRPr lang="en-US" sz="24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17">
            <a:extLst>
              <a:ext uri="{FF2B5EF4-FFF2-40B4-BE49-F238E27FC236}">
                <a16:creationId xmlns:a16="http://schemas.microsoft.com/office/drawing/2014/main" id="{ABDE96BB-DDC3-1287-7577-5A952F448366}"/>
              </a:ext>
            </a:extLst>
          </p:cNvPr>
          <p:cNvSpPr/>
          <p:nvPr/>
        </p:nvSpPr>
        <p:spPr>
          <a:xfrm>
            <a:off x="883206" y="5436060"/>
            <a:ext cx="12863870" cy="271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2400" dirty="0">
                <a:solidFill>
                  <a:srgbClr val="002060"/>
                </a:solidFill>
                <a:latin typeface="Times New Roman" panose="02020603050405020304" pitchFamily="18" charset="0"/>
                <a:ea typeface="Inter Light" pitchFamily="34" charset="-122"/>
                <a:cs typeface="Times New Roman" panose="02020603050405020304" pitchFamily="18" charset="0"/>
              </a:rPr>
              <a:t>Result: Clean and structured dataset ready for analysis.</a:t>
            </a:r>
            <a:endParaRPr lang="en-US" sz="24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D6351D79-BE7A-D996-C732-F6B6C5F252BE}"/>
                  </a:ext>
                </a:extLst>
              </p14:cNvPr>
              <p14:cNvContentPartPr/>
              <p14:nvPr/>
            </p14:nvContentPartPr>
            <p14:xfrm>
              <a:off x="12859277" y="5902502"/>
              <a:ext cx="1566360" cy="38376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D6351D79-BE7A-D996-C732-F6B6C5F252B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2796277" y="5839561"/>
                <a:ext cx="1692000" cy="509282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411030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42311" y="880824"/>
            <a:ext cx="8042672" cy="5409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250"/>
              </a:lnSpc>
              <a:buNone/>
            </a:pPr>
            <a:r>
              <a:rPr lang="en-US" sz="4400" b="1" dirty="0">
                <a:solidFill>
                  <a:srgbClr val="333F70"/>
                </a:solidFill>
                <a:latin typeface="Times New Roman" panose="02020603050405020304" pitchFamily="18" charset="0"/>
                <a:ea typeface="Unbounded Bold" pitchFamily="34" charset="-122"/>
                <a:cs typeface="Times New Roman" panose="02020603050405020304" pitchFamily="18" charset="0"/>
              </a:rPr>
              <a:t>Data Preparation</a:t>
            </a:r>
            <a:endParaRPr lang="en-US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1342311" y="1474470"/>
            <a:ext cx="2596872" cy="324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3200" b="1" dirty="0">
                <a:solidFill>
                  <a:srgbClr val="333F70"/>
                </a:solidFill>
                <a:latin typeface="Times New Roman" panose="02020603050405020304" pitchFamily="18" charset="0"/>
                <a:ea typeface="Unbounded Bold" pitchFamily="34" charset="-122"/>
                <a:cs typeface="Times New Roman" panose="02020603050405020304" pitchFamily="18" charset="0"/>
              </a:rPr>
              <a:t>Tasks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1342311" y="1997154"/>
            <a:ext cx="11945660" cy="11153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900"/>
              </a:lnSpc>
              <a:buSzPct val="100000"/>
              <a:buChar char="•"/>
            </a:pPr>
            <a:r>
              <a:rPr lang="en-US" dirty="0">
                <a:solidFill>
                  <a:srgbClr val="333F70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Loaded dataset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ts val="1900"/>
              </a:lnSpc>
              <a:buSzPct val="100000"/>
              <a:buChar char="•"/>
            </a:pPr>
            <a:r>
              <a:rPr lang="en-US" dirty="0">
                <a:solidFill>
                  <a:srgbClr val="333F70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Checked structure &amp; schema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ts val="1900"/>
              </a:lnSpc>
              <a:buSzPct val="100000"/>
              <a:buChar char="•"/>
            </a:pPr>
            <a:r>
              <a:rPr lang="en-US" dirty="0">
                <a:solidFill>
                  <a:srgbClr val="333F70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Handled missing values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ts val="1900"/>
              </a:lnSpc>
              <a:buSzPct val="100000"/>
              <a:buChar char="•"/>
            </a:pPr>
            <a:r>
              <a:rPr lang="en-US" dirty="0">
                <a:solidFill>
                  <a:srgbClr val="333F70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Created time-based features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1342311" y="3310652"/>
            <a:ext cx="2596872" cy="324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3200" b="1" dirty="0">
                <a:solidFill>
                  <a:srgbClr val="333F70"/>
                </a:solidFill>
                <a:latin typeface="Times New Roman" panose="02020603050405020304" pitchFamily="18" charset="0"/>
                <a:ea typeface="Unbounded Bold" pitchFamily="34" charset="-122"/>
                <a:cs typeface="Times New Roman" panose="02020603050405020304" pitchFamily="18" charset="0"/>
              </a:rPr>
              <a:t>Code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1342311" y="3833336"/>
            <a:ext cx="11945660" cy="1323023"/>
          </a:xfrm>
          <a:prstGeom prst="roundRect">
            <a:avLst>
              <a:gd name="adj" fmla="val 5496"/>
            </a:avLst>
          </a:prstGeom>
          <a:solidFill>
            <a:srgbClr val="F2F2F2"/>
          </a:solidFill>
          <a:ln/>
        </p:spPr>
      </p:sp>
      <p:sp>
        <p:nvSpPr>
          <p:cNvPr id="7" name="Shape 5"/>
          <p:cNvSpPr/>
          <p:nvPr/>
        </p:nvSpPr>
        <p:spPr>
          <a:xfrm>
            <a:off x="1333738" y="3833336"/>
            <a:ext cx="11962805" cy="1521143"/>
          </a:xfrm>
          <a:prstGeom prst="roundRect">
            <a:avLst>
              <a:gd name="adj" fmla="val 1963"/>
            </a:avLst>
          </a:prstGeom>
          <a:solidFill>
            <a:srgbClr val="F2F2F2"/>
          </a:solidFill>
          <a:ln/>
        </p:spPr>
      </p:sp>
      <p:sp>
        <p:nvSpPr>
          <p:cNvPr id="8" name="Text 6"/>
          <p:cNvSpPr/>
          <p:nvPr/>
        </p:nvSpPr>
        <p:spPr>
          <a:xfrm>
            <a:off x="1550075" y="4006453"/>
            <a:ext cx="11530132" cy="9767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dirty="0">
                <a:solidFill>
                  <a:srgbClr val="333F70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df = pd.read_csv("GlobalWeatherRepository.csv")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ts val="1900"/>
              </a:lnSpc>
              <a:buNone/>
            </a:pPr>
            <a:r>
              <a:rPr lang="en-US" dirty="0">
                <a:solidFill>
                  <a:srgbClr val="333F70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df.info()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ts val="1900"/>
              </a:lnSpc>
              <a:buNone/>
            </a:pPr>
            <a:r>
              <a:rPr lang="en-US" dirty="0">
                <a:solidFill>
                  <a:srgbClr val="333F70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df.describe()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ts val="1900"/>
              </a:lnSpc>
              <a:buNone/>
            </a:pPr>
            <a:r>
              <a:rPr lang="en-US" dirty="0">
                <a:solidFill>
                  <a:srgbClr val="333F70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df = </a:t>
            </a:r>
            <a:r>
              <a:rPr lang="en-US" dirty="0" err="1">
                <a:solidFill>
                  <a:srgbClr val="333F70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df.dropna</a:t>
            </a:r>
            <a:r>
              <a:rPr lang="en-US" dirty="0">
                <a:solidFill>
                  <a:srgbClr val="333F70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()</a:t>
            </a:r>
          </a:p>
          <a:p>
            <a:pPr marL="0" indent="0" algn="l">
              <a:lnSpc>
                <a:spcPts val="1900"/>
              </a:lnSpc>
              <a:buNone/>
            </a:pPr>
            <a:r>
              <a:rPr lang="en-US" dirty="0">
                <a:solidFill>
                  <a:srgbClr val="333F70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Print(</a:t>
            </a:r>
            <a:r>
              <a:rPr lang="en-US" dirty="0" err="1">
                <a:solidFill>
                  <a:srgbClr val="333F70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df.head</a:t>
            </a:r>
            <a:r>
              <a:rPr lang="en-US" dirty="0">
                <a:solidFill>
                  <a:srgbClr val="333F70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())</a:t>
            </a:r>
          </a:p>
          <a:p>
            <a:pPr marL="0" indent="0" algn="l">
              <a:lnSpc>
                <a:spcPts val="1900"/>
              </a:lnSpc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1342311" y="5354479"/>
            <a:ext cx="3284934" cy="324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1342311" y="5877163"/>
            <a:ext cx="11945660" cy="1078825"/>
          </a:xfrm>
          <a:prstGeom prst="roundRect">
            <a:avLst>
              <a:gd name="adj" fmla="val 6740"/>
            </a:avLst>
          </a:prstGeom>
          <a:solidFill>
            <a:srgbClr val="F2F2F2"/>
          </a:solidFill>
          <a:ln/>
        </p:spPr>
      </p:sp>
      <p:sp>
        <p:nvSpPr>
          <p:cNvPr id="11" name="Shape 9"/>
          <p:cNvSpPr/>
          <p:nvPr/>
        </p:nvSpPr>
        <p:spPr>
          <a:xfrm>
            <a:off x="1333738" y="5812074"/>
            <a:ext cx="11962805" cy="1078825"/>
          </a:xfrm>
          <a:prstGeom prst="roundRect">
            <a:avLst>
              <a:gd name="adj" fmla="val 2407"/>
            </a:avLst>
          </a:prstGeom>
          <a:solidFill>
            <a:srgbClr val="F2F2F2"/>
          </a:solidFill>
          <a:ln/>
        </p:spPr>
      </p:sp>
      <p:sp>
        <p:nvSpPr>
          <p:cNvPr id="12" name="Text 10"/>
          <p:cNvSpPr/>
          <p:nvPr/>
        </p:nvSpPr>
        <p:spPr>
          <a:xfrm>
            <a:off x="1550075" y="6050280"/>
            <a:ext cx="11530132" cy="732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dirty="0">
                <a:solidFill>
                  <a:srgbClr val="E36209"/>
                </a:solidFill>
                <a:highlight>
                  <a:srgbClr val="F2F2F2"/>
                </a:highlight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df['date'] = pd.to_datetime(df['date'])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ts val="1900"/>
              </a:lnSpc>
              <a:buNone/>
            </a:pPr>
            <a:r>
              <a:rPr lang="en-US" dirty="0">
                <a:solidFill>
                  <a:srgbClr val="E36209"/>
                </a:solidFill>
                <a:highlight>
                  <a:srgbClr val="F2F2F2"/>
                </a:highlight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df['year'] = df['date'].dt.year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ts val="1900"/>
              </a:lnSpc>
              <a:buNone/>
            </a:pPr>
            <a:r>
              <a:rPr lang="en-US" dirty="0">
                <a:solidFill>
                  <a:srgbClr val="E36209"/>
                </a:solidFill>
                <a:highlight>
                  <a:srgbClr val="F2F2F2"/>
                </a:highlight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df['month'] = df['date'].dt.month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342311" y="7104578"/>
            <a:ext cx="11945660" cy="2441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b="1" dirty="0">
                <a:solidFill>
                  <a:srgbClr val="333F70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Output:</a:t>
            </a:r>
            <a:r>
              <a:rPr lang="en-US" dirty="0">
                <a:solidFill>
                  <a:srgbClr val="333F70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 Clean dataset ready for analysis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7404EE19-4F89-7B9A-E429-2E3AFF90BE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96343" y="880824"/>
            <a:ext cx="5608497" cy="686391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7704" y="785336"/>
            <a:ext cx="8009096" cy="6050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50"/>
              </a:lnSpc>
              <a:buNone/>
            </a:pPr>
            <a:r>
              <a:rPr lang="en-US" sz="4800" b="1" dirty="0">
                <a:solidFill>
                  <a:srgbClr val="333F70"/>
                </a:solidFill>
                <a:latin typeface="Times New Roman" panose="02020603050405020304" pitchFamily="18" charset="0"/>
                <a:ea typeface="Unbounded Bold" pitchFamily="34" charset="-122"/>
                <a:cs typeface="Times New Roman" panose="02020603050405020304" pitchFamily="18" charset="0"/>
              </a:rPr>
              <a:t>Core Analysis</a:t>
            </a:r>
            <a:endParaRPr 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677704" y="1456492"/>
            <a:ext cx="2904768" cy="363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3200" b="1" dirty="0">
                <a:solidFill>
                  <a:srgbClr val="333F70"/>
                </a:solidFill>
                <a:latin typeface="Times New Roman" panose="02020603050405020304" pitchFamily="18" charset="0"/>
                <a:ea typeface="Unbounded Bold" pitchFamily="34" charset="-122"/>
                <a:cs typeface="Times New Roman" panose="02020603050405020304" pitchFamily="18" charset="0"/>
              </a:rPr>
              <a:t>Tasks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677704" y="2067520"/>
            <a:ext cx="13274993" cy="1322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2000" dirty="0">
                <a:solidFill>
                  <a:srgbClr val="333F70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Distribution analysis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2000" dirty="0">
                <a:solidFill>
                  <a:srgbClr val="333F70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Trend analysis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2000" dirty="0">
                <a:solidFill>
                  <a:srgbClr val="333F70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Regional comparison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2000" dirty="0">
                <a:solidFill>
                  <a:srgbClr val="333F70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Extreme event detection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677704" y="3741063"/>
            <a:ext cx="3308747" cy="363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3200" b="1" dirty="0">
                <a:solidFill>
                  <a:srgbClr val="333F70"/>
                </a:solidFill>
                <a:latin typeface="Times New Roman" panose="02020603050405020304" pitchFamily="18" charset="0"/>
                <a:ea typeface="Unbounded Bold" pitchFamily="34" charset="-122"/>
                <a:cs typeface="Times New Roman" panose="02020603050405020304" pitchFamily="18" charset="0"/>
              </a:rPr>
              <a:t>Code: Distribution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77704" y="4290179"/>
            <a:ext cx="6401276" cy="961549"/>
          </a:xfrm>
          <a:prstGeom prst="roundRect">
            <a:avLst>
              <a:gd name="adj" fmla="val 8459"/>
            </a:avLst>
          </a:prstGeom>
          <a:solidFill>
            <a:srgbClr val="F2F2F2"/>
          </a:solidFill>
          <a:ln/>
        </p:spPr>
      </p:sp>
      <p:sp>
        <p:nvSpPr>
          <p:cNvPr id="7" name="Shape 5"/>
          <p:cNvSpPr/>
          <p:nvPr/>
        </p:nvSpPr>
        <p:spPr>
          <a:xfrm>
            <a:off x="668060" y="4290179"/>
            <a:ext cx="6420564" cy="961549"/>
          </a:xfrm>
          <a:prstGeom prst="roundRect">
            <a:avLst>
              <a:gd name="adj" fmla="val 3021"/>
            </a:avLst>
          </a:prstGeom>
          <a:solidFill>
            <a:srgbClr val="F2F2F2"/>
          </a:solidFill>
          <a:ln/>
        </p:spPr>
      </p:sp>
      <p:sp>
        <p:nvSpPr>
          <p:cNvPr id="8" name="Text 6"/>
          <p:cNvSpPr/>
          <p:nvPr/>
        </p:nvSpPr>
        <p:spPr>
          <a:xfrm>
            <a:off x="910114" y="4483775"/>
            <a:ext cx="5936456" cy="5743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2000" dirty="0">
                <a:solidFill>
                  <a:srgbClr val="333F70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sns.histplot(df['temperature_c'], 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ts val="2250"/>
              </a:lnSpc>
              <a:buNone/>
            </a:pPr>
            <a:r>
              <a:rPr lang="en-US" sz="2000" dirty="0">
                <a:solidFill>
                  <a:srgbClr val="333F70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           bins=50, kde=True)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7559040" y="3741063"/>
            <a:ext cx="2904768" cy="363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3200" b="1" dirty="0">
                <a:solidFill>
                  <a:srgbClr val="333F70"/>
                </a:solidFill>
                <a:latin typeface="Times New Roman" panose="02020603050405020304" pitchFamily="18" charset="0"/>
                <a:ea typeface="Unbounded Bold" pitchFamily="34" charset="-122"/>
                <a:cs typeface="Times New Roman" panose="02020603050405020304" pitchFamily="18" charset="0"/>
              </a:rPr>
              <a:t>Code: Grouping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7559040" y="4290179"/>
            <a:ext cx="6401276" cy="674370"/>
          </a:xfrm>
          <a:prstGeom prst="roundRect">
            <a:avLst>
              <a:gd name="adj" fmla="val 12061"/>
            </a:avLst>
          </a:prstGeom>
          <a:solidFill>
            <a:srgbClr val="F2F2F2"/>
          </a:solidFill>
          <a:ln/>
        </p:spPr>
      </p:sp>
      <p:sp>
        <p:nvSpPr>
          <p:cNvPr id="11" name="Shape 9"/>
          <p:cNvSpPr/>
          <p:nvPr/>
        </p:nvSpPr>
        <p:spPr>
          <a:xfrm>
            <a:off x="7549396" y="4290179"/>
            <a:ext cx="6420564" cy="674370"/>
          </a:xfrm>
          <a:prstGeom prst="roundRect">
            <a:avLst>
              <a:gd name="adj" fmla="val 4307"/>
            </a:avLst>
          </a:prstGeom>
          <a:solidFill>
            <a:srgbClr val="F2F2F2"/>
          </a:solidFill>
          <a:ln/>
        </p:spPr>
      </p:sp>
      <p:sp>
        <p:nvSpPr>
          <p:cNvPr id="12" name="Text 10"/>
          <p:cNvSpPr/>
          <p:nvPr/>
        </p:nvSpPr>
        <p:spPr>
          <a:xfrm>
            <a:off x="7791450" y="4483775"/>
            <a:ext cx="5936456" cy="2871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2000" dirty="0">
                <a:solidFill>
                  <a:srgbClr val="333F70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country_temp = df.groupby("country")["temperature_c"].mean()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77704" y="5685592"/>
            <a:ext cx="2904768" cy="363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3200" b="1" dirty="0">
                <a:solidFill>
                  <a:srgbClr val="333F70"/>
                </a:solidFill>
                <a:latin typeface="Times New Roman" panose="02020603050405020304" pitchFamily="18" charset="0"/>
                <a:ea typeface="Unbounded Bold" pitchFamily="34" charset="-122"/>
                <a:cs typeface="Times New Roman" panose="02020603050405020304" pitchFamily="18" charset="0"/>
              </a:rPr>
              <a:t>Extreme Events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677704" y="6296620"/>
            <a:ext cx="13274993" cy="674370"/>
          </a:xfrm>
          <a:prstGeom prst="roundRect">
            <a:avLst>
              <a:gd name="adj" fmla="val 12061"/>
            </a:avLst>
          </a:prstGeom>
          <a:solidFill>
            <a:srgbClr val="F2F2F2"/>
          </a:solidFill>
          <a:ln/>
        </p:spPr>
      </p:sp>
      <p:sp>
        <p:nvSpPr>
          <p:cNvPr id="15" name="Shape 13"/>
          <p:cNvSpPr/>
          <p:nvPr/>
        </p:nvSpPr>
        <p:spPr>
          <a:xfrm>
            <a:off x="668060" y="6296620"/>
            <a:ext cx="13294281" cy="674370"/>
          </a:xfrm>
          <a:prstGeom prst="roundRect">
            <a:avLst>
              <a:gd name="adj" fmla="val 4307"/>
            </a:avLst>
          </a:prstGeom>
          <a:solidFill>
            <a:srgbClr val="F2F2F2"/>
          </a:solidFill>
          <a:ln/>
        </p:spPr>
      </p:sp>
      <p:sp>
        <p:nvSpPr>
          <p:cNvPr id="16" name="Text 14"/>
          <p:cNvSpPr/>
          <p:nvPr/>
        </p:nvSpPr>
        <p:spPr>
          <a:xfrm>
            <a:off x="910114" y="6490216"/>
            <a:ext cx="12810173" cy="2871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2000" dirty="0">
                <a:solidFill>
                  <a:srgbClr val="E36209"/>
                </a:solidFill>
                <a:highlight>
                  <a:srgbClr val="F2F2F2"/>
                </a:highlight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df["is_extreme_temp"] = df["temperature_c"] &gt; 40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677704" y="7156966"/>
            <a:ext cx="13274993" cy="2871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2000" b="1" dirty="0">
                <a:solidFill>
                  <a:srgbClr val="333F70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Output:</a:t>
            </a:r>
            <a:r>
              <a:rPr lang="en-US" sz="2000" dirty="0">
                <a:solidFill>
                  <a:srgbClr val="333F70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 Patterns, trends, anomalies identified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34440"/>
            <a:ext cx="728174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33F70"/>
                </a:solidFill>
                <a:latin typeface="Times New Roman" panose="02020603050405020304" pitchFamily="18" charset="0"/>
                <a:ea typeface="Unbounded Bold" pitchFamily="34" charset="-122"/>
                <a:cs typeface="Times New Roman" panose="02020603050405020304" pitchFamily="18" charset="0"/>
              </a:rPr>
              <a:t>Correlation Analysis</a:t>
            </a:r>
            <a:endParaRPr lang="en-US" sz="4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3790" y="2033945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333F70"/>
                </a:solidFill>
                <a:latin typeface="Times New Roman" panose="02020603050405020304" pitchFamily="18" charset="0"/>
                <a:ea typeface="Unbounded Bold" pitchFamily="34" charset="-122"/>
                <a:cs typeface="Times New Roman" panose="02020603050405020304" pitchFamily="18" charset="0"/>
              </a:rPr>
              <a:t>Objective</a:t>
            </a:r>
            <a:endParaRPr lang="en-US" sz="2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93790" y="2799398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To identify relationships between variables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793790" y="3502462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333F70"/>
                </a:solidFill>
                <a:latin typeface="Times New Roman" panose="02020603050405020304" pitchFamily="18" charset="0"/>
                <a:ea typeface="Unbounded Bold" pitchFamily="34" charset="-122"/>
                <a:cs typeface="Times New Roman" panose="02020603050405020304" pitchFamily="18" charset="0"/>
              </a:rPr>
              <a:t>Code</a:t>
            </a:r>
            <a:endParaRPr lang="en-US" sz="2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793790" y="4267914"/>
            <a:ext cx="13042821" cy="816531"/>
          </a:xfrm>
          <a:prstGeom prst="roundRect">
            <a:avLst>
              <a:gd name="adj" fmla="val 11667"/>
            </a:avLst>
          </a:prstGeom>
          <a:solidFill>
            <a:srgbClr val="F2F2F2"/>
          </a:solidFill>
          <a:ln/>
        </p:spPr>
      </p:sp>
      <p:sp>
        <p:nvSpPr>
          <p:cNvPr id="7" name="Shape 5"/>
          <p:cNvSpPr/>
          <p:nvPr/>
        </p:nvSpPr>
        <p:spPr>
          <a:xfrm>
            <a:off x="782479" y="4267914"/>
            <a:ext cx="13065443" cy="816531"/>
          </a:xfrm>
          <a:prstGeom prst="roundRect">
            <a:avLst>
              <a:gd name="adj" fmla="val 4167"/>
            </a:avLst>
          </a:prstGeom>
          <a:solidFill>
            <a:srgbClr val="F2F2F2"/>
          </a:solidFill>
          <a:ln/>
        </p:spPr>
      </p:sp>
      <p:sp>
        <p:nvSpPr>
          <p:cNvPr id="8" name="Text 6"/>
          <p:cNvSpPr/>
          <p:nvPr/>
        </p:nvSpPr>
        <p:spPr>
          <a:xfrm>
            <a:off x="1065967" y="4494728"/>
            <a:ext cx="1249846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sns.heatmap(df.corr(), annot=True)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793790" y="5424607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333F70"/>
                </a:solidFill>
                <a:latin typeface="Times New Roman" panose="02020603050405020304" pitchFamily="18" charset="0"/>
                <a:ea typeface="Unbounded Bold" pitchFamily="34" charset="-122"/>
                <a:cs typeface="Times New Roman" panose="02020603050405020304" pitchFamily="18" charset="0"/>
              </a:rPr>
              <a:t>Insight</a:t>
            </a:r>
            <a:endParaRPr lang="en-US" sz="2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93790" y="6190059"/>
            <a:ext cx="13042821" cy="8051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33F70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Temperature, rainfall, and wind show varying correlations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33F70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Helps in </a:t>
            </a:r>
            <a:r>
              <a:rPr lang="en-US" sz="1750" b="1" dirty="0">
                <a:solidFill>
                  <a:srgbClr val="333F70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feature selection and risk modeling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44B1FF2-196B-5DAB-D377-15B070387B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8568" y="2118309"/>
            <a:ext cx="8318042" cy="361888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13341"/>
            <a:ext cx="993171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33F70"/>
                </a:solidFill>
                <a:latin typeface="Times New Roman" panose="02020603050405020304" pitchFamily="18" charset="0"/>
                <a:ea typeface="Unbounded Bold" pitchFamily="34" charset="-122"/>
                <a:cs typeface="Times New Roman" panose="02020603050405020304" pitchFamily="18" charset="0"/>
              </a:rPr>
              <a:t>Seasonal Patterns &amp; Trends</a:t>
            </a:r>
            <a:endParaRPr lang="en-US" sz="4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3790" y="1812846"/>
            <a:ext cx="349353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333F70"/>
                </a:solidFill>
                <a:latin typeface="Times New Roman" panose="02020603050405020304" pitchFamily="18" charset="0"/>
                <a:ea typeface="Unbounded Bold" pitchFamily="34" charset="-122"/>
                <a:cs typeface="Times New Roman" panose="02020603050405020304" pitchFamily="18" charset="0"/>
              </a:rPr>
              <a:t>What I Analyzed</a:t>
            </a:r>
            <a:endParaRPr lang="en-US" sz="2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93790" y="2578298"/>
            <a:ext cx="13042821" cy="12472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33F70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Monthly trends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33F70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Yearly trends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33F70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Seasonal variations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793790" y="4165759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333F70"/>
                </a:solidFill>
                <a:latin typeface="Times New Roman" panose="02020603050405020304" pitchFamily="18" charset="0"/>
                <a:ea typeface="Unbounded Bold" pitchFamily="34" charset="-122"/>
                <a:cs typeface="Times New Roman" panose="02020603050405020304" pitchFamily="18" charset="0"/>
              </a:rPr>
              <a:t>Code</a:t>
            </a:r>
            <a:endParaRPr lang="en-US" sz="2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793790" y="4931212"/>
            <a:ext cx="13042821" cy="816531"/>
          </a:xfrm>
          <a:prstGeom prst="roundRect">
            <a:avLst>
              <a:gd name="adj" fmla="val 11667"/>
            </a:avLst>
          </a:prstGeom>
          <a:solidFill>
            <a:srgbClr val="F2F2F2"/>
          </a:solidFill>
          <a:ln/>
        </p:spPr>
      </p:sp>
      <p:sp>
        <p:nvSpPr>
          <p:cNvPr id="7" name="Shape 5"/>
          <p:cNvSpPr/>
          <p:nvPr/>
        </p:nvSpPr>
        <p:spPr>
          <a:xfrm>
            <a:off x="782479" y="4931212"/>
            <a:ext cx="13065443" cy="816531"/>
          </a:xfrm>
          <a:prstGeom prst="roundRect">
            <a:avLst>
              <a:gd name="adj" fmla="val 4167"/>
            </a:avLst>
          </a:prstGeom>
          <a:solidFill>
            <a:srgbClr val="F2F2F2"/>
          </a:solidFill>
          <a:ln/>
        </p:spPr>
      </p:sp>
      <p:sp>
        <p:nvSpPr>
          <p:cNvPr id="8" name="Text 6"/>
          <p:cNvSpPr/>
          <p:nvPr/>
        </p:nvSpPr>
        <p:spPr>
          <a:xfrm>
            <a:off x="1065967" y="5158026"/>
            <a:ext cx="1249846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monthly_avg = df.groupby(['year','month']).mean().reset_index()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793790" y="6087904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333F70"/>
                </a:solidFill>
                <a:latin typeface="Times New Roman" panose="02020603050405020304" pitchFamily="18" charset="0"/>
                <a:ea typeface="Unbounded Bold" pitchFamily="34" charset="-122"/>
                <a:cs typeface="Times New Roman" panose="02020603050405020304" pitchFamily="18" charset="0"/>
              </a:rPr>
              <a:t>Insight</a:t>
            </a:r>
            <a:endParaRPr lang="en-US" sz="2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93790" y="6853357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Clear seasonal variations observed in temperature and rainfall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787B82F-24D0-18D9-0C2B-33CC7D764C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3042" y="1722120"/>
            <a:ext cx="6833568" cy="401562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13341"/>
            <a:ext cx="1021580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33F70"/>
                </a:solidFill>
                <a:latin typeface="Times New Roman" panose="02020603050405020304" pitchFamily="18" charset="0"/>
                <a:ea typeface="Unbounded Bold" pitchFamily="34" charset="-122"/>
                <a:cs typeface="Times New Roman" panose="02020603050405020304" pitchFamily="18" charset="0"/>
              </a:rPr>
              <a:t>Extreme Event Identification</a:t>
            </a:r>
            <a:endParaRPr lang="en-US" sz="4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3790" y="1812846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333F70"/>
                </a:solidFill>
                <a:latin typeface="Times New Roman" panose="02020603050405020304" pitchFamily="18" charset="0"/>
                <a:ea typeface="Unbounded Bold" pitchFamily="34" charset="-122"/>
                <a:cs typeface="Times New Roman" panose="02020603050405020304" pitchFamily="18" charset="0"/>
              </a:rPr>
              <a:t>Logic Used</a:t>
            </a:r>
            <a:endParaRPr lang="en-US" sz="2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93790" y="2578298"/>
            <a:ext cx="13042821" cy="12472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33F70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Temperature &gt; 40°C → Heatwave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33F70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Rainfall &gt; 100 mm → Heavy rain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33F70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Wind &gt; 60 kph → High wind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793790" y="4165759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333F70"/>
                </a:solidFill>
                <a:latin typeface="Times New Roman" panose="02020603050405020304" pitchFamily="18" charset="0"/>
                <a:ea typeface="Unbounded Bold" pitchFamily="34" charset="-122"/>
                <a:cs typeface="Times New Roman" panose="02020603050405020304" pitchFamily="18" charset="0"/>
              </a:rPr>
              <a:t>Code</a:t>
            </a:r>
            <a:endParaRPr lang="en-US" sz="2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793790" y="4931212"/>
            <a:ext cx="13042821" cy="816531"/>
          </a:xfrm>
          <a:prstGeom prst="roundRect">
            <a:avLst>
              <a:gd name="adj" fmla="val 11667"/>
            </a:avLst>
          </a:prstGeom>
          <a:solidFill>
            <a:srgbClr val="F2F2F2"/>
          </a:solidFill>
          <a:ln/>
        </p:spPr>
      </p:sp>
      <p:sp>
        <p:nvSpPr>
          <p:cNvPr id="7" name="Shape 5"/>
          <p:cNvSpPr/>
          <p:nvPr/>
        </p:nvSpPr>
        <p:spPr>
          <a:xfrm>
            <a:off x="782479" y="4931212"/>
            <a:ext cx="13065443" cy="1156692"/>
          </a:xfrm>
          <a:prstGeom prst="roundRect">
            <a:avLst>
              <a:gd name="adj" fmla="val 4167"/>
            </a:avLst>
          </a:prstGeom>
          <a:solidFill>
            <a:srgbClr val="F2F2F2"/>
          </a:solidFill>
          <a:ln/>
        </p:spPr>
      </p:sp>
      <p:sp>
        <p:nvSpPr>
          <p:cNvPr id="8" name="Text 6"/>
          <p:cNvSpPr/>
          <p:nvPr/>
        </p:nvSpPr>
        <p:spPr>
          <a:xfrm>
            <a:off x="1065967" y="5158026"/>
            <a:ext cx="1249846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36209"/>
                </a:solidFill>
                <a:highlight>
                  <a:srgbClr val="F2F2F2"/>
                </a:highlight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df["is_extreme"] = ( (df["temperature_c"] &gt; 40) </a:t>
            </a:r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36209"/>
                </a:solidFill>
                <a:highlight>
                  <a:srgbClr val="F2F2F2"/>
                </a:highlight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(df["precip_mm"] &gt; 100) | (df["wind_kph"] &gt; 60) )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793790" y="6087904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333F70"/>
                </a:solidFill>
                <a:latin typeface="Times New Roman" panose="02020603050405020304" pitchFamily="18" charset="0"/>
                <a:ea typeface="Unbounded Bold" pitchFamily="34" charset="-122"/>
                <a:cs typeface="Times New Roman" panose="02020603050405020304" pitchFamily="18" charset="0"/>
              </a:rPr>
              <a:t>Outcome</a:t>
            </a:r>
            <a:endParaRPr lang="en-US" sz="2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93790" y="6853357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Identified </a:t>
            </a:r>
            <a:r>
              <a:rPr lang="en-US" sz="1750" b="1" dirty="0">
                <a:solidFill>
                  <a:srgbClr val="333F70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critical weather events and anomalies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5ECF118-7F8B-1EE5-5198-4F1F8877AD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6791" y="1722119"/>
            <a:ext cx="7979820" cy="549414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04255"/>
            <a:ext cx="760773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33F70"/>
                </a:solidFill>
                <a:latin typeface="Times New Roman" panose="02020603050405020304" pitchFamily="18" charset="0"/>
                <a:ea typeface="Unbounded Bold" pitchFamily="34" charset="-122"/>
                <a:cs typeface="Times New Roman" panose="02020603050405020304" pitchFamily="18" charset="0"/>
              </a:rPr>
              <a:t>Regional Comparison</a:t>
            </a:r>
            <a:endParaRPr lang="en-US" sz="4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3790" y="1503759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333F70"/>
                </a:solidFill>
                <a:latin typeface="Times New Roman" panose="02020603050405020304" pitchFamily="18" charset="0"/>
                <a:ea typeface="Unbounded Bold" pitchFamily="34" charset="-122"/>
                <a:cs typeface="Times New Roman" panose="02020603050405020304" pitchFamily="18" charset="0"/>
              </a:rPr>
              <a:t>What I Did</a:t>
            </a:r>
            <a:endParaRPr lang="en-US" sz="2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93790" y="2269212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Compared countries based on: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793790" y="2887266"/>
            <a:ext cx="13042821" cy="12472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33F70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Temperature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33F70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Rainfall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33F70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Wind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793790" y="4474726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333F70"/>
                </a:solidFill>
                <a:latin typeface="Times New Roman" panose="02020603050405020304" pitchFamily="18" charset="0"/>
                <a:ea typeface="Unbounded Bold" pitchFamily="34" charset="-122"/>
                <a:cs typeface="Times New Roman" panose="02020603050405020304" pitchFamily="18" charset="0"/>
              </a:rPr>
              <a:t>Code</a:t>
            </a:r>
            <a:endParaRPr lang="en-US" sz="2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793790" y="5240179"/>
            <a:ext cx="13042821" cy="816531"/>
          </a:xfrm>
          <a:prstGeom prst="roundRect">
            <a:avLst>
              <a:gd name="adj" fmla="val 11667"/>
            </a:avLst>
          </a:prstGeom>
          <a:solidFill>
            <a:srgbClr val="F2F2F2"/>
          </a:solidFill>
          <a:ln/>
        </p:spPr>
      </p:sp>
      <p:sp>
        <p:nvSpPr>
          <p:cNvPr id="8" name="Shape 6"/>
          <p:cNvSpPr/>
          <p:nvPr/>
        </p:nvSpPr>
        <p:spPr>
          <a:xfrm>
            <a:off x="782479" y="5240179"/>
            <a:ext cx="13065443" cy="816531"/>
          </a:xfrm>
          <a:prstGeom prst="roundRect">
            <a:avLst>
              <a:gd name="adj" fmla="val 4167"/>
            </a:avLst>
          </a:prstGeom>
          <a:solidFill>
            <a:srgbClr val="F2F2F2"/>
          </a:solidFill>
          <a:ln/>
        </p:spPr>
      </p:sp>
      <p:sp>
        <p:nvSpPr>
          <p:cNvPr id="9" name="Text 7"/>
          <p:cNvSpPr/>
          <p:nvPr/>
        </p:nvSpPr>
        <p:spPr>
          <a:xfrm>
            <a:off x="1065967" y="5466993"/>
            <a:ext cx="1249846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country_temp = df.groupby("country")["temperature_c"].mean()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93790" y="6396871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333F70"/>
                </a:solidFill>
                <a:latin typeface="Times New Roman" panose="02020603050405020304" pitchFamily="18" charset="0"/>
                <a:ea typeface="Unbounded Bold" pitchFamily="34" charset="-122"/>
                <a:cs typeface="Times New Roman" panose="02020603050405020304" pitchFamily="18" charset="0"/>
              </a:rPr>
              <a:t>Insight</a:t>
            </a:r>
            <a:endParaRPr lang="en-US" sz="2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805365" y="7173899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Significant variation across regions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CD7DA12D-18C0-A2F8-0C48-ABDE78F2F9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6423" y="1697725"/>
            <a:ext cx="9520187" cy="352055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5084" y="740212"/>
            <a:ext cx="6175534" cy="602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00"/>
              </a:lnSpc>
              <a:buNone/>
            </a:pPr>
            <a:r>
              <a:rPr lang="en-US" sz="4800" b="1" dirty="0">
                <a:solidFill>
                  <a:srgbClr val="333F70"/>
                </a:solidFill>
                <a:latin typeface="Times New Roman" panose="02020603050405020304" pitchFamily="18" charset="0"/>
                <a:ea typeface="Unbounded Bold" pitchFamily="34" charset="-122"/>
                <a:cs typeface="Times New Roman" panose="02020603050405020304" pitchFamily="18" charset="0"/>
              </a:rPr>
              <a:t>Visualization Design</a:t>
            </a:r>
            <a:endParaRPr 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675084" y="1408509"/>
            <a:ext cx="2955488" cy="361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3200" b="1" dirty="0">
                <a:solidFill>
                  <a:srgbClr val="333F70"/>
                </a:solidFill>
                <a:latin typeface="Times New Roman" panose="02020603050405020304" pitchFamily="18" charset="0"/>
                <a:ea typeface="Unbounded Bold" pitchFamily="34" charset="-122"/>
                <a:cs typeface="Times New Roman" panose="02020603050405020304" pitchFamily="18" charset="0"/>
              </a:rPr>
              <a:t>Selected Charts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738783" y="1997809"/>
            <a:ext cx="6558082" cy="1086207"/>
          </a:xfrm>
          <a:prstGeom prst="roundRect">
            <a:avLst>
              <a:gd name="adj" fmla="val 7459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5" name="Text 3"/>
          <p:cNvSpPr/>
          <p:nvPr/>
        </p:nvSpPr>
        <p:spPr>
          <a:xfrm>
            <a:off x="875586" y="2216587"/>
            <a:ext cx="2453283" cy="301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2800" b="1" dirty="0">
                <a:solidFill>
                  <a:srgbClr val="333F70"/>
                </a:solidFill>
                <a:latin typeface="Times New Roman" panose="02020603050405020304" pitchFamily="18" charset="0"/>
                <a:ea typeface="Unbounded Bold" pitchFamily="34" charset="-122"/>
                <a:cs typeface="Times New Roman" panose="02020603050405020304" pitchFamily="18" charset="0"/>
              </a:rPr>
              <a:t>Choropleth Map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875586" y="2616279"/>
            <a:ext cx="6157079" cy="2855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000" dirty="0">
                <a:solidFill>
                  <a:srgbClr val="333F70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Geographic patterns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7397115" y="2016085"/>
            <a:ext cx="6558201" cy="1086207"/>
          </a:xfrm>
          <a:prstGeom prst="roundRect">
            <a:avLst>
              <a:gd name="adj" fmla="val 7459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97616" y="2216587"/>
            <a:ext cx="2411135" cy="301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2800" b="1" dirty="0">
                <a:solidFill>
                  <a:srgbClr val="333F70"/>
                </a:solidFill>
                <a:latin typeface="Times New Roman" panose="02020603050405020304" pitchFamily="18" charset="0"/>
                <a:ea typeface="Unbounded Bold" pitchFamily="34" charset="-122"/>
                <a:cs typeface="Times New Roman" panose="02020603050405020304" pitchFamily="18" charset="0"/>
              </a:rPr>
              <a:t>Line Chart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7597616" y="2616279"/>
            <a:ext cx="6157198" cy="2855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000" dirty="0">
                <a:solidFill>
                  <a:srgbClr val="333F70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Time trends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75084" y="3266242"/>
            <a:ext cx="6558082" cy="1086207"/>
          </a:xfrm>
          <a:prstGeom prst="roundRect">
            <a:avLst>
              <a:gd name="adj" fmla="val 7459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75586" y="3466743"/>
            <a:ext cx="2411135" cy="301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2800" b="1" dirty="0">
                <a:solidFill>
                  <a:srgbClr val="333F70"/>
                </a:solidFill>
                <a:latin typeface="Times New Roman" panose="02020603050405020304" pitchFamily="18" charset="0"/>
                <a:ea typeface="Unbounded Bold" pitchFamily="34" charset="-122"/>
                <a:cs typeface="Times New Roman" panose="02020603050405020304" pitchFamily="18" charset="0"/>
              </a:rPr>
              <a:t>Heatmap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875586" y="3866436"/>
            <a:ext cx="6157079" cy="2855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000" dirty="0">
                <a:solidFill>
                  <a:srgbClr val="333F70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Seasonality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7397115" y="3266242"/>
            <a:ext cx="6558201" cy="1086207"/>
          </a:xfrm>
          <a:prstGeom prst="roundRect">
            <a:avLst>
              <a:gd name="adj" fmla="val 7459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597616" y="3466743"/>
            <a:ext cx="2411135" cy="301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2800" b="1" dirty="0">
                <a:solidFill>
                  <a:srgbClr val="333F70"/>
                </a:solidFill>
                <a:latin typeface="Times New Roman" panose="02020603050405020304" pitchFamily="18" charset="0"/>
                <a:ea typeface="Unbounded Bold" pitchFamily="34" charset="-122"/>
                <a:cs typeface="Times New Roman" panose="02020603050405020304" pitchFamily="18" charset="0"/>
              </a:rPr>
              <a:t>Bar Chart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7597616" y="3866436"/>
            <a:ext cx="6157198" cy="2855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000" dirty="0">
                <a:solidFill>
                  <a:srgbClr val="333F70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Country ranking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675084" y="4598432"/>
            <a:ext cx="2893338" cy="361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3200" b="1" dirty="0">
                <a:solidFill>
                  <a:srgbClr val="333F70"/>
                </a:solidFill>
                <a:latin typeface="Times New Roman" panose="02020603050405020304" pitchFamily="18" charset="0"/>
                <a:ea typeface="Unbounded Bold" pitchFamily="34" charset="-122"/>
                <a:cs typeface="Times New Roman" panose="02020603050405020304" pitchFamily="18" charset="0"/>
              </a:rPr>
              <a:t>Code Example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75084" y="5206008"/>
            <a:ext cx="13280231" cy="1813322"/>
          </a:xfrm>
          <a:prstGeom prst="roundRect">
            <a:avLst>
              <a:gd name="adj" fmla="val 4468"/>
            </a:avLst>
          </a:prstGeom>
          <a:solidFill>
            <a:srgbClr val="F2F2F2"/>
          </a:solidFill>
          <a:ln/>
        </p:spPr>
      </p:sp>
      <p:sp>
        <p:nvSpPr>
          <p:cNvPr id="18" name="Shape 16"/>
          <p:cNvSpPr/>
          <p:nvPr/>
        </p:nvSpPr>
        <p:spPr>
          <a:xfrm>
            <a:off x="665440" y="5206008"/>
            <a:ext cx="13299519" cy="1813322"/>
          </a:xfrm>
          <a:prstGeom prst="roundRect">
            <a:avLst>
              <a:gd name="adj" fmla="val 1596"/>
            </a:avLst>
          </a:prstGeom>
          <a:solidFill>
            <a:srgbClr val="F2F2F2"/>
          </a:solidFill>
          <a:ln/>
        </p:spPr>
      </p:sp>
      <p:sp>
        <p:nvSpPr>
          <p:cNvPr id="19" name="Text 17"/>
          <p:cNvSpPr/>
          <p:nvPr/>
        </p:nvSpPr>
        <p:spPr>
          <a:xfrm>
            <a:off x="906542" y="5398889"/>
            <a:ext cx="12817316" cy="14275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000" dirty="0">
                <a:solidFill>
                  <a:srgbClr val="333F70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px.choropleth(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ts val="2200"/>
              </a:lnSpc>
              <a:buNone/>
            </a:pPr>
            <a:r>
              <a:rPr lang="en-US" sz="2000" dirty="0">
                <a:solidFill>
                  <a:srgbClr val="333F70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   df,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ts val="2200"/>
              </a:lnSpc>
              <a:buNone/>
            </a:pPr>
            <a:r>
              <a:rPr lang="en-US" sz="2000" dirty="0">
                <a:solidFill>
                  <a:srgbClr val="333F70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   locations="country",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ts val="2200"/>
              </a:lnSpc>
              <a:buNone/>
            </a:pPr>
            <a:r>
              <a:rPr lang="en-US" sz="2000" dirty="0">
                <a:solidFill>
                  <a:srgbClr val="333F70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   color="temperature_c"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ts val="2200"/>
              </a:lnSpc>
              <a:buNone/>
            </a:pPr>
            <a:r>
              <a:rPr lang="en-US" sz="2000" dirty="0">
                <a:solidFill>
                  <a:srgbClr val="333F70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)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75084" y="7203758"/>
            <a:ext cx="13280231" cy="2855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000" b="1" dirty="0">
                <a:solidFill>
                  <a:srgbClr val="26A688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Right visualization improves insights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46760"/>
            <a:ext cx="130428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00" b="1" dirty="0">
                <a:solidFill>
                  <a:srgbClr val="333F70"/>
                </a:solidFill>
                <a:latin typeface="Times New Roman" panose="02020603050405020304" pitchFamily="18" charset="0"/>
                <a:ea typeface="Unbounded Bold" pitchFamily="34" charset="-122"/>
                <a:cs typeface="Times New Roman" panose="02020603050405020304" pitchFamily="18" charset="0"/>
              </a:rPr>
              <a:t>Dashboard Development</a:t>
            </a:r>
            <a:endParaRPr lang="en-US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3790" y="2255044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3200" b="1" dirty="0">
                <a:solidFill>
                  <a:srgbClr val="333F70"/>
                </a:solidFill>
                <a:latin typeface="Times New Roman" panose="02020603050405020304" pitchFamily="18" charset="0"/>
                <a:ea typeface="Unbounded Bold" pitchFamily="34" charset="-122"/>
                <a:cs typeface="Times New Roman" panose="02020603050405020304" pitchFamily="18" charset="0"/>
              </a:rPr>
              <a:t>What I Built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93790" y="3020497"/>
            <a:ext cx="13042821" cy="12472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000" dirty="0">
                <a:solidFill>
                  <a:srgbClr val="333F70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Interactive multi-page dashboard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000" dirty="0">
                <a:solidFill>
                  <a:srgbClr val="333F70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Dynamic filters and selectors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000" dirty="0">
                <a:solidFill>
                  <a:srgbClr val="333F70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KPI-based interface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793790" y="4749760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3200" b="1" dirty="0">
                <a:solidFill>
                  <a:srgbClr val="333F70"/>
                </a:solidFill>
                <a:latin typeface="Times New Roman" panose="02020603050405020304" pitchFamily="18" charset="0"/>
                <a:ea typeface="Unbounded Bold" pitchFamily="34" charset="-122"/>
                <a:cs typeface="Times New Roman" panose="02020603050405020304" pitchFamily="18" charset="0"/>
              </a:rPr>
              <a:t>KPI Code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793790" y="5430203"/>
            <a:ext cx="6244709" cy="1179433"/>
          </a:xfrm>
          <a:prstGeom prst="roundRect">
            <a:avLst>
              <a:gd name="adj" fmla="val 8077"/>
            </a:avLst>
          </a:prstGeom>
          <a:solidFill>
            <a:srgbClr val="F2F2F2"/>
          </a:solidFill>
          <a:ln/>
        </p:spPr>
      </p:sp>
      <p:sp>
        <p:nvSpPr>
          <p:cNvPr id="7" name="Shape 5"/>
          <p:cNvSpPr/>
          <p:nvPr/>
        </p:nvSpPr>
        <p:spPr>
          <a:xfrm>
            <a:off x="782479" y="5430203"/>
            <a:ext cx="6267331" cy="1179433"/>
          </a:xfrm>
          <a:prstGeom prst="roundRect">
            <a:avLst>
              <a:gd name="adj" fmla="val 2885"/>
            </a:avLst>
          </a:prstGeom>
          <a:solidFill>
            <a:srgbClr val="F2F2F2"/>
          </a:solidFill>
          <a:ln/>
        </p:spPr>
      </p:sp>
      <p:sp>
        <p:nvSpPr>
          <p:cNvPr id="8" name="Text 6"/>
          <p:cNvSpPr/>
          <p:nvPr/>
        </p:nvSpPr>
        <p:spPr>
          <a:xfrm>
            <a:off x="1065967" y="5657017"/>
            <a:ext cx="570035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solidFill>
                  <a:srgbClr val="333F70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avg_temp = df["temperature_celsius"].mean()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solidFill>
                  <a:srgbClr val="333F70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st.metric("Global Avg Temp", avg_temp)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7599521" y="4749760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3200" b="1" dirty="0">
                <a:solidFill>
                  <a:srgbClr val="333F70"/>
                </a:solidFill>
                <a:latin typeface="Times New Roman" panose="02020603050405020304" pitchFamily="18" charset="0"/>
                <a:ea typeface="Unbounded Bold" pitchFamily="34" charset="-122"/>
                <a:cs typeface="Times New Roman" panose="02020603050405020304" pitchFamily="18" charset="0"/>
              </a:rPr>
              <a:t>Interactivity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7599521" y="5430203"/>
            <a:ext cx="6244709" cy="1179433"/>
          </a:xfrm>
          <a:prstGeom prst="roundRect">
            <a:avLst>
              <a:gd name="adj" fmla="val 8077"/>
            </a:avLst>
          </a:prstGeom>
          <a:solidFill>
            <a:srgbClr val="F2F2F2"/>
          </a:solidFill>
          <a:ln/>
        </p:spPr>
      </p:sp>
      <p:sp>
        <p:nvSpPr>
          <p:cNvPr id="11" name="Shape 9"/>
          <p:cNvSpPr/>
          <p:nvPr/>
        </p:nvSpPr>
        <p:spPr>
          <a:xfrm>
            <a:off x="7588210" y="5430203"/>
            <a:ext cx="6267331" cy="1179433"/>
          </a:xfrm>
          <a:prstGeom prst="roundRect">
            <a:avLst>
              <a:gd name="adj" fmla="val 2885"/>
            </a:avLst>
          </a:prstGeom>
          <a:solidFill>
            <a:srgbClr val="F2F2F2"/>
          </a:solidFill>
          <a:ln/>
        </p:spPr>
      </p:sp>
      <p:sp>
        <p:nvSpPr>
          <p:cNvPr id="12" name="Text 10"/>
          <p:cNvSpPr/>
          <p:nvPr/>
        </p:nvSpPr>
        <p:spPr>
          <a:xfrm>
            <a:off x="7871698" y="5657017"/>
            <a:ext cx="570035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solidFill>
                  <a:srgbClr val="333F70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country = st.selectbox("Select Country", 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solidFill>
                  <a:srgbClr val="333F70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                     df["country"].unique())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793790" y="7119938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b="1" dirty="0">
                <a:solidFill>
                  <a:srgbClr val="26A688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Static → Interactive analytics system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1744" y="1396246"/>
            <a:ext cx="130428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33F70"/>
                </a:solidFill>
                <a:latin typeface="Times New Roman" panose="02020603050405020304" pitchFamily="18" charset="0"/>
                <a:ea typeface="Unbounded Bold" pitchFamily="34" charset="-122"/>
                <a:cs typeface="Times New Roman" panose="02020603050405020304" pitchFamily="18" charset="0"/>
              </a:rPr>
              <a:t>Visualization Development Tools Used</a:t>
            </a:r>
            <a:endParaRPr lang="en-US" sz="4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3790" y="2649260"/>
            <a:ext cx="13042821" cy="8051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400" dirty="0">
                <a:solidFill>
                  <a:srgbClr val="333F70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Plotly → Interactive charts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400" dirty="0">
                <a:solidFill>
                  <a:srgbClr val="333F70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Streamlit → Dashboard interface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93790" y="3794522"/>
            <a:ext cx="7942421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333F70"/>
                </a:solidFill>
                <a:latin typeface="Times New Roman" panose="02020603050405020304" pitchFamily="18" charset="0"/>
                <a:ea typeface="Unbounded Bold" pitchFamily="34" charset="-122"/>
                <a:cs typeface="Times New Roman" panose="02020603050405020304" pitchFamily="18" charset="0"/>
              </a:rPr>
              <a:t>Visualizations Implemented</a:t>
            </a:r>
            <a:endParaRPr lang="en-US" sz="35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793790" y="4701659"/>
            <a:ext cx="13042821" cy="21316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000" dirty="0">
                <a:solidFill>
                  <a:srgbClr val="333F70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Choropleth Map → Global temperature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000" dirty="0">
                <a:solidFill>
                  <a:srgbClr val="333F70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Line Charts → Trends over time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000" dirty="0">
                <a:solidFill>
                  <a:srgbClr val="333F70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Heatmaps → Seasonal patterns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000" dirty="0">
                <a:solidFill>
                  <a:srgbClr val="333F70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Bar Charts → Country ranking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000" dirty="0">
                <a:solidFill>
                  <a:srgbClr val="333F70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Scatter Plots → Correlation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793790" y="7088505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b="1" dirty="0">
                <a:solidFill>
                  <a:srgbClr val="333F70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Enabled multi-dimensional data analysis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FE5DFA3-56D7-5B9E-CADE-C4E4896340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7399" y="4775240"/>
            <a:ext cx="8484524" cy="300911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38570"/>
            <a:ext cx="1269408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33F70"/>
                </a:solidFill>
                <a:latin typeface="Times New Roman" panose="02020603050405020304" pitchFamily="18" charset="0"/>
                <a:ea typeface="Unbounded Bold" pitchFamily="34" charset="-122"/>
                <a:cs typeface="Times New Roman" panose="02020603050405020304" pitchFamily="18" charset="0"/>
              </a:rPr>
              <a:t>Interactivity Features Implemented</a:t>
            </a:r>
            <a:endParaRPr lang="en-US" sz="4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3790" y="1738074"/>
            <a:ext cx="4536519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333F70"/>
                </a:solidFill>
                <a:latin typeface="Times New Roman" panose="02020603050405020304" pitchFamily="18" charset="0"/>
                <a:ea typeface="Unbounded Bold" pitchFamily="34" charset="-122"/>
                <a:cs typeface="Times New Roman" panose="02020603050405020304" pitchFamily="18" charset="0"/>
              </a:rPr>
              <a:t>Controls</a:t>
            </a:r>
            <a:endParaRPr lang="en-US" sz="35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793790" y="2645212"/>
            <a:ext cx="6407944" cy="823198"/>
          </a:xfrm>
          <a:prstGeom prst="roundRect">
            <a:avLst>
              <a:gd name="adj" fmla="val 11573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8224" y="2879646"/>
            <a:ext cx="317837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Times New Roman" panose="02020603050405020304" pitchFamily="18" charset="0"/>
                <a:ea typeface="Unbounded Bold" pitchFamily="34" charset="-122"/>
                <a:cs typeface="Times New Roman" panose="02020603050405020304" pitchFamily="18" charset="0"/>
              </a:rPr>
              <a:t>Country selection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7428548" y="2645212"/>
            <a:ext cx="6408063" cy="823198"/>
          </a:xfrm>
          <a:prstGeom prst="roundRect">
            <a:avLst>
              <a:gd name="adj" fmla="val 11573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62982" y="287964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Times New Roman" panose="02020603050405020304" pitchFamily="18" charset="0"/>
                <a:ea typeface="Unbounded Bold" pitchFamily="34" charset="-122"/>
                <a:cs typeface="Times New Roman" panose="02020603050405020304" pitchFamily="18" charset="0"/>
              </a:rPr>
              <a:t>Year filter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793790" y="3695224"/>
            <a:ext cx="6407944" cy="823198"/>
          </a:xfrm>
          <a:prstGeom prst="roundRect">
            <a:avLst>
              <a:gd name="adj" fmla="val 11573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28224" y="3929658"/>
            <a:ext cx="353568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Times New Roman" panose="02020603050405020304" pitchFamily="18" charset="0"/>
                <a:ea typeface="Unbounded Bold" pitchFamily="34" charset="-122"/>
                <a:cs typeface="Times New Roman" panose="02020603050405020304" pitchFamily="18" charset="0"/>
              </a:rPr>
              <a:t>Date range selector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7428548" y="3695224"/>
            <a:ext cx="6408063" cy="823198"/>
          </a:xfrm>
          <a:prstGeom prst="roundRect">
            <a:avLst>
              <a:gd name="adj" fmla="val 11573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662982" y="3929658"/>
            <a:ext cx="466748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Times New Roman" panose="02020603050405020304" pitchFamily="18" charset="0"/>
                <a:ea typeface="Unbounded Bold" pitchFamily="34" charset="-122"/>
                <a:cs typeface="Times New Roman" panose="02020603050405020304" pitchFamily="18" charset="0"/>
              </a:rPr>
              <a:t>Multi-country comparison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793790" y="4858583"/>
            <a:ext cx="4536519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333F70"/>
                </a:solidFill>
                <a:latin typeface="Times New Roman" panose="02020603050405020304" pitchFamily="18" charset="0"/>
                <a:ea typeface="Unbounded Bold" pitchFamily="34" charset="-122"/>
                <a:cs typeface="Times New Roman" panose="02020603050405020304" pitchFamily="18" charset="0"/>
              </a:rPr>
              <a:t>Code Example</a:t>
            </a:r>
            <a:endParaRPr lang="en-US" sz="35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793790" y="5765721"/>
            <a:ext cx="13042821" cy="816531"/>
          </a:xfrm>
          <a:prstGeom prst="roundRect">
            <a:avLst>
              <a:gd name="adj" fmla="val 11667"/>
            </a:avLst>
          </a:prstGeom>
          <a:solidFill>
            <a:srgbClr val="F2F2F2"/>
          </a:solidFill>
          <a:ln/>
        </p:spPr>
      </p:sp>
      <p:sp>
        <p:nvSpPr>
          <p:cNvPr id="14" name="Shape 12"/>
          <p:cNvSpPr/>
          <p:nvPr/>
        </p:nvSpPr>
        <p:spPr>
          <a:xfrm>
            <a:off x="782479" y="5765721"/>
            <a:ext cx="13065443" cy="816531"/>
          </a:xfrm>
          <a:prstGeom prst="roundRect">
            <a:avLst>
              <a:gd name="adj" fmla="val 4167"/>
            </a:avLst>
          </a:prstGeom>
          <a:solidFill>
            <a:srgbClr val="F2F2F2"/>
          </a:solidFill>
          <a:ln/>
        </p:spPr>
      </p:sp>
      <p:sp>
        <p:nvSpPr>
          <p:cNvPr id="15" name="Text 13"/>
          <p:cNvSpPr/>
          <p:nvPr/>
        </p:nvSpPr>
        <p:spPr>
          <a:xfrm>
            <a:off x="1065967" y="5992535"/>
            <a:ext cx="1249846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country = st.selectbox("Select Country", df["country"].unique())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793790" y="6837402"/>
            <a:ext cx="13042821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50"/>
              </a:lnSpc>
              <a:buNone/>
            </a:pPr>
            <a:r>
              <a:rPr lang="en-US" sz="2200" b="1" dirty="0">
                <a:solidFill>
                  <a:srgbClr val="26A688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Enables dynamic data exploration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92850"/>
            <a:ext cx="874680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33F70"/>
                </a:solidFill>
                <a:latin typeface="Times New Roman" panose="02020603050405020304" pitchFamily="18" charset="0"/>
                <a:ea typeface="Unbounded Bold" pitchFamily="34" charset="-122"/>
                <a:cs typeface="Times New Roman" panose="02020603050405020304" pitchFamily="18" charset="0"/>
              </a:rPr>
              <a:t>KPI Dashboard (UI Layer)</a:t>
            </a:r>
            <a:endParaRPr lang="en-US" sz="4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3790" y="1692354"/>
            <a:ext cx="6325195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333F70"/>
                </a:solidFill>
                <a:latin typeface="Times New Roman" panose="02020603050405020304" pitchFamily="18" charset="0"/>
                <a:ea typeface="Unbounded Bold" pitchFamily="34" charset="-122"/>
                <a:cs typeface="Times New Roman" panose="02020603050405020304" pitchFamily="18" charset="0"/>
              </a:rPr>
              <a:t>Key Metrics Displayed</a:t>
            </a:r>
            <a:endParaRPr lang="en-US" sz="35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793790" y="2599492"/>
            <a:ext cx="6407944" cy="868918"/>
          </a:xfrm>
          <a:prstGeom prst="roundRect">
            <a:avLst>
              <a:gd name="adj" fmla="val 10964"/>
            </a:avLst>
          </a:prstGeom>
          <a:solidFill>
            <a:srgbClr val="FFFFFF"/>
          </a:solidFill>
          <a:ln w="30480">
            <a:solidFill>
              <a:srgbClr val="BCDB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1084" y="2856786"/>
            <a:ext cx="427493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Times New Roman" panose="02020603050405020304" pitchFamily="18" charset="0"/>
                <a:ea typeface="Unbounded Bold" pitchFamily="34" charset="-122"/>
                <a:cs typeface="Times New Roman" panose="02020603050405020304" pitchFamily="18" charset="0"/>
              </a:rPr>
              <a:t>Global Avg Temperature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7428548" y="2599492"/>
            <a:ext cx="6408063" cy="868918"/>
          </a:xfrm>
          <a:prstGeom prst="roundRect">
            <a:avLst>
              <a:gd name="adj" fmla="val 10964"/>
            </a:avLst>
          </a:prstGeom>
          <a:solidFill>
            <a:srgbClr val="FFFFFF"/>
          </a:solidFill>
          <a:ln w="30480">
            <a:solidFill>
              <a:srgbClr val="BCDB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85842" y="2856786"/>
            <a:ext cx="330243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Times New Roman" panose="02020603050405020304" pitchFamily="18" charset="0"/>
                <a:ea typeface="Unbounded Bold" pitchFamily="34" charset="-122"/>
                <a:cs typeface="Times New Roman" panose="02020603050405020304" pitchFamily="18" charset="0"/>
              </a:rPr>
              <a:t>Total Precipitation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793790" y="3695224"/>
            <a:ext cx="6407944" cy="868918"/>
          </a:xfrm>
          <a:prstGeom prst="roundRect">
            <a:avLst>
              <a:gd name="adj" fmla="val 10964"/>
            </a:avLst>
          </a:prstGeom>
          <a:solidFill>
            <a:srgbClr val="FFFFFF"/>
          </a:solidFill>
          <a:ln w="30480">
            <a:solidFill>
              <a:srgbClr val="BCDB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084" y="3952518"/>
            <a:ext cx="287797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Times New Roman" panose="02020603050405020304" pitchFamily="18" charset="0"/>
                <a:ea typeface="Unbounded Bold" pitchFamily="34" charset="-122"/>
                <a:cs typeface="Times New Roman" panose="02020603050405020304" pitchFamily="18" charset="0"/>
              </a:rPr>
              <a:t>Avg Wind Speed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7428548" y="3695224"/>
            <a:ext cx="6408063" cy="868918"/>
          </a:xfrm>
          <a:prstGeom prst="roundRect">
            <a:avLst>
              <a:gd name="adj" fmla="val 10964"/>
            </a:avLst>
          </a:prstGeom>
          <a:solidFill>
            <a:srgbClr val="FFFFFF"/>
          </a:solidFill>
          <a:ln w="30480">
            <a:solidFill>
              <a:srgbClr val="BCDB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685842" y="3952518"/>
            <a:ext cx="398454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Times New Roman" panose="02020603050405020304" pitchFamily="18" charset="0"/>
                <a:ea typeface="Unbounded Bold" pitchFamily="34" charset="-122"/>
                <a:cs typeface="Times New Roman" panose="02020603050405020304" pitchFamily="18" charset="0"/>
              </a:rPr>
              <a:t>Extreme Events Count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793790" y="4904303"/>
            <a:ext cx="4536519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333F70"/>
                </a:solidFill>
                <a:latin typeface="Times New Roman" panose="02020603050405020304" pitchFamily="18" charset="0"/>
                <a:ea typeface="Unbounded Bold" pitchFamily="34" charset="-122"/>
                <a:cs typeface="Times New Roman" panose="02020603050405020304" pitchFamily="18" charset="0"/>
              </a:rPr>
              <a:t>Code</a:t>
            </a:r>
            <a:endParaRPr lang="en-US" sz="35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793790" y="5811441"/>
            <a:ext cx="13042821" cy="816531"/>
          </a:xfrm>
          <a:prstGeom prst="roundRect">
            <a:avLst>
              <a:gd name="adj" fmla="val 11667"/>
            </a:avLst>
          </a:prstGeom>
          <a:solidFill>
            <a:srgbClr val="F2F2F2"/>
          </a:solidFill>
          <a:ln/>
        </p:spPr>
      </p:sp>
      <p:sp>
        <p:nvSpPr>
          <p:cNvPr id="14" name="Shape 12"/>
          <p:cNvSpPr/>
          <p:nvPr/>
        </p:nvSpPr>
        <p:spPr>
          <a:xfrm>
            <a:off x="782479" y="5811441"/>
            <a:ext cx="13065443" cy="816531"/>
          </a:xfrm>
          <a:prstGeom prst="roundRect">
            <a:avLst>
              <a:gd name="adj" fmla="val 4167"/>
            </a:avLst>
          </a:prstGeom>
          <a:solidFill>
            <a:srgbClr val="F2F2F2"/>
          </a:solidFill>
          <a:ln/>
        </p:spPr>
      </p:sp>
      <p:sp>
        <p:nvSpPr>
          <p:cNvPr id="15" name="Text 13"/>
          <p:cNvSpPr/>
          <p:nvPr/>
        </p:nvSpPr>
        <p:spPr>
          <a:xfrm>
            <a:off x="1065967" y="6038255"/>
            <a:ext cx="1249846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st.metric("Global Avg Temp", avg_temp)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793790" y="6883122"/>
            <a:ext cx="13042821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50"/>
              </a:lnSpc>
              <a:buNone/>
            </a:pPr>
            <a:r>
              <a:rPr lang="en-US" sz="2200" b="1" dirty="0">
                <a:solidFill>
                  <a:srgbClr val="26A688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Quick insight through KPI cards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33807"/>
            <a:ext cx="677989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00" b="1" dirty="0">
                <a:solidFill>
                  <a:srgbClr val="333F70"/>
                </a:solidFill>
                <a:latin typeface="Times New Roman" panose="02020603050405020304" pitchFamily="18" charset="0"/>
                <a:ea typeface="Unbounded Bold" pitchFamily="34" charset="-122"/>
                <a:cs typeface="Times New Roman" panose="02020603050405020304" pitchFamily="18" charset="0"/>
              </a:rPr>
              <a:t>Climate Risk Model</a:t>
            </a:r>
            <a:endParaRPr lang="en-US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3790" y="1733312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3200" b="1" dirty="0">
                <a:solidFill>
                  <a:srgbClr val="333F70"/>
                </a:solidFill>
                <a:latin typeface="Times New Roman" panose="02020603050405020304" pitchFamily="18" charset="0"/>
                <a:ea typeface="Unbounded Bold" pitchFamily="34" charset="-122"/>
                <a:cs typeface="Times New Roman" panose="02020603050405020304" pitchFamily="18" charset="0"/>
              </a:rPr>
              <a:t>Logic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793790" y="2498765"/>
            <a:ext cx="13042821" cy="2268141"/>
          </a:xfrm>
          <a:prstGeom prst="roundRect">
            <a:avLst>
              <a:gd name="adj" fmla="val 4200"/>
            </a:avLst>
          </a:prstGeom>
          <a:solidFill>
            <a:srgbClr val="F2F2F2"/>
          </a:solidFill>
          <a:ln/>
        </p:spPr>
      </p:sp>
      <p:sp>
        <p:nvSpPr>
          <p:cNvPr id="5" name="Shape 3"/>
          <p:cNvSpPr/>
          <p:nvPr/>
        </p:nvSpPr>
        <p:spPr>
          <a:xfrm>
            <a:off x="782479" y="2498765"/>
            <a:ext cx="13065443" cy="2268141"/>
          </a:xfrm>
          <a:prstGeom prst="roundRect">
            <a:avLst>
              <a:gd name="adj" fmla="val 1500"/>
            </a:avLst>
          </a:prstGeom>
          <a:solidFill>
            <a:srgbClr val="F2F2F2"/>
          </a:solidFill>
          <a:ln/>
        </p:spPr>
      </p:sp>
      <p:sp>
        <p:nvSpPr>
          <p:cNvPr id="6" name="Text 4"/>
          <p:cNvSpPr/>
          <p:nvPr/>
        </p:nvSpPr>
        <p:spPr>
          <a:xfrm>
            <a:off x="1065967" y="2725579"/>
            <a:ext cx="12498467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solidFill>
                  <a:srgbClr val="E36209"/>
                </a:solidFill>
                <a:highlight>
                  <a:srgbClr val="F2F2F2"/>
                </a:highlight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df["risk_score"] = (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solidFill>
                  <a:srgbClr val="E36209"/>
                </a:solidFill>
                <a:highlight>
                  <a:srgbClr val="F2F2F2"/>
                </a:highlight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   df["temperature_celsius"] * 0.4 +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solidFill>
                  <a:srgbClr val="E36209"/>
                </a:solidFill>
                <a:highlight>
                  <a:srgbClr val="F2F2F2"/>
                </a:highlight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   df["precip_mm"] * 0.3 +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solidFill>
                  <a:srgbClr val="E36209"/>
                </a:solidFill>
                <a:highlight>
                  <a:srgbClr val="F2F2F2"/>
                </a:highlight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   df["wind_kph"] * 0.3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solidFill>
                  <a:srgbClr val="E36209"/>
                </a:solidFill>
                <a:highlight>
                  <a:srgbClr val="F2F2F2"/>
                </a:highlight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)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793790" y="5107067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3200" b="1" dirty="0">
                <a:solidFill>
                  <a:srgbClr val="333F70"/>
                </a:solidFill>
                <a:latin typeface="Times New Roman" panose="02020603050405020304" pitchFamily="18" charset="0"/>
                <a:ea typeface="Unbounded Bold" pitchFamily="34" charset="-122"/>
                <a:cs typeface="Times New Roman" panose="02020603050405020304" pitchFamily="18" charset="0"/>
              </a:rPr>
              <a:t>Purpose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793790" y="5872520"/>
            <a:ext cx="13042821" cy="8051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000" dirty="0">
                <a:solidFill>
                  <a:srgbClr val="333F70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Combines multiple variables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000" dirty="0">
                <a:solidFill>
                  <a:srgbClr val="333F70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Creates single decision metric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793790" y="6932771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b="1" dirty="0">
                <a:solidFill>
                  <a:srgbClr val="26A688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Enables risk-based analysis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A0B9656-82B2-1D81-89B1-06814A283C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3513" y="2498765"/>
            <a:ext cx="8103098" cy="4796909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135142"/>
            <a:ext cx="9012674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33F70"/>
                </a:solidFill>
                <a:latin typeface="Times New Roman" panose="02020603050405020304" pitchFamily="18" charset="0"/>
                <a:ea typeface="Unbounded Bold" pitchFamily="34" charset="-122"/>
                <a:cs typeface="Times New Roman" panose="02020603050405020304" pitchFamily="18" charset="0"/>
              </a:rPr>
              <a:t> Extreme Event Detection</a:t>
            </a:r>
            <a:endParaRPr lang="en-US" sz="4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793790" y="2297549"/>
            <a:ext cx="13042821" cy="2268141"/>
          </a:xfrm>
          <a:prstGeom prst="roundRect">
            <a:avLst>
              <a:gd name="adj" fmla="val 4200"/>
            </a:avLst>
          </a:prstGeom>
          <a:solidFill>
            <a:srgbClr val="F2F2F2"/>
          </a:solidFill>
          <a:ln/>
        </p:spPr>
      </p:sp>
      <p:sp>
        <p:nvSpPr>
          <p:cNvPr id="4" name="Shape 2"/>
          <p:cNvSpPr/>
          <p:nvPr/>
        </p:nvSpPr>
        <p:spPr>
          <a:xfrm>
            <a:off x="782479" y="2297549"/>
            <a:ext cx="13065443" cy="2268141"/>
          </a:xfrm>
          <a:prstGeom prst="roundRect">
            <a:avLst>
              <a:gd name="adj" fmla="val 1500"/>
            </a:avLst>
          </a:prstGeom>
          <a:solidFill>
            <a:srgbClr val="F2F2F2"/>
          </a:solidFill>
          <a:ln/>
        </p:spPr>
      </p:sp>
      <p:sp>
        <p:nvSpPr>
          <p:cNvPr id="5" name="Text 3"/>
          <p:cNvSpPr/>
          <p:nvPr/>
        </p:nvSpPr>
        <p:spPr>
          <a:xfrm>
            <a:off x="1065967" y="2524363"/>
            <a:ext cx="12498467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36209"/>
                </a:solidFill>
                <a:highlight>
                  <a:srgbClr val="F2F2F2"/>
                </a:highlight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df["has_extreme_event"] = (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36209"/>
                </a:solidFill>
                <a:highlight>
                  <a:srgbClr val="F2F2F2"/>
                </a:highlight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   (df["temperature_celsius"] &gt; 40) |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36209"/>
                </a:solidFill>
                <a:highlight>
                  <a:srgbClr val="F2F2F2"/>
                </a:highlight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   (df["precip_mm"] &gt; 100) |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36209"/>
                </a:solidFill>
                <a:highlight>
                  <a:srgbClr val="F2F2F2"/>
                </a:highlight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   (df["wind_kph"] &gt; 60)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36209"/>
                </a:solidFill>
                <a:highlight>
                  <a:srgbClr val="F2F2F2"/>
                </a:highlight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)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793790" y="4905851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333F70"/>
                </a:solidFill>
                <a:latin typeface="Times New Roman" panose="02020603050405020304" pitchFamily="18" charset="0"/>
                <a:ea typeface="Unbounded Bold" pitchFamily="34" charset="-122"/>
                <a:cs typeface="Times New Roman" panose="02020603050405020304" pitchFamily="18" charset="0"/>
              </a:rPr>
              <a:t>Purpose</a:t>
            </a:r>
            <a:endParaRPr lang="en-US" sz="2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793790" y="5671304"/>
            <a:ext cx="13042821" cy="8051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33F70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Detects anomalies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33F70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Identifies critical weather events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793790" y="6731556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6A688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Converts data → actionable alerts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1B679B1-DED3-FB42-5EA2-D36190334F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2081" y="2309125"/>
            <a:ext cx="10181120" cy="377916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2950" y="693420"/>
            <a:ext cx="9596438" cy="6632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200"/>
              </a:lnSpc>
              <a:buNone/>
            </a:pPr>
            <a:r>
              <a:rPr lang="en-US" sz="4150" b="1" dirty="0">
                <a:solidFill>
                  <a:srgbClr val="333F70"/>
                </a:solidFill>
                <a:latin typeface="Times New Roman" panose="02020603050405020304" pitchFamily="18" charset="0"/>
                <a:ea typeface="Unbounded Bold" pitchFamily="34" charset="-122"/>
                <a:cs typeface="Times New Roman" panose="02020603050405020304" pitchFamily="18" charset="0"/>
              </a:rPr>
              <a:t>Predictive Climate Analytics </a:t>
            </a:r>
            <a:endParaRPr lang="en-US" sz="4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42950" y="1436132"/>
            <a:ext cx="3184208" cy="3979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2500" b="1" dirty="0">
                <a:solidFill>
                  <a:srgbClr val="333F70"/>
                </a:solidFill>
                <a:latin typeface="Times New Roman" panose="02020603050405020304" pitchFamily="18" charset="0"/>
                <a:ea typeface="Unbounded Bold" pitchFamily="34" charset="-122"/>
                <a:cs typeface="Times New Roman" panose="02020603050405020304" pitchFamily="18" charset="0"/>
              </a:rPr>
              <a:t>What I Added</a:t>
            </a: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42950" y="2131933"/>
            <a:ext cx="13144500" cy="7269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50" dirty="0">
                <a:solidFill>
                  <a:srgbClr val="333F70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Temperature forecasting</a:t>
            </a:r>
            <a:endParaRPr lang="en-US" sz="1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50" dirty="0">
                <a:solidFill>
                  <a:srgbClr val="333F70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Polynomial regression</a:t>
            </a:r>
            <a:endParaRPr lang="en-US" sz="1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742950" y="3156823"/>
            <a:ext cx="3184208" cy="3979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2500" b="1" dirty="0">
                <a:solidFill>
                  <a:srgbClr val="333F70"/>
                </a:solidFill>
                <a:latin typeface="Times New Roman" panose="02020603050405020304" pitchFamily="18" charset="0"/>
                <a:ea typeface="Unbounded Bold" pitchFamily="34" charset="-122"/>
                <a:cs typeface="Times New Roman" panose="02020603050405020304" pitchFamily="18" charset="0"/>
              </a:rPr>
              <a:t>Code</a:t>
            </a: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742950" y="3852624"/>
            <a:ext cx="13144500" cy="1410533"/>
          </a:xfrm>
          <a:prstGeom prst="roundRect">
            <a:avLst>
              <a:gd name="adj" fmla="val 6321"/>
            </a:avLst>
          </a:prstGeom>
          <a:solidFill>
            <a:srgbClr val="F2F2F2"/>
          </a:solidFill>
          <a:ln/>
        </p:spPr>
      </p:sp>
      <p:sp>
        <p:nvSpPr>
          <p:cNvPr id="7" name="Shape 5"/>
          <p:cNvSpPr/>
          <p:nvPr/>
        </p:nvSpPr>
        <p:spPr>
          <a:xfrm>
            <a:off x="732353" y="3852624"/>
            <a:ext cx="13165693" cy="1410533"/>
          </a:xfrm>
          <a:prstGeom prst="roundRect">
            <a:avLst>
              <a:gd name="adj" fmla="val 2257"/>
            </a:avLst>
          </a:prstGeom>
          <a:solidFill>
            <a:srgbClr val="F2F2F2"/>
          </a:solidFill>
          <a:ln/>
        </p:spPr>
      </p:sp>
      <p:sp>
        <p:nvSpPr>
          <p:cNvPr id="8" name="Text 6"/>
          <p:cNvSpPr/>
          <p:nvPr/>
        </p:nvSpPr>
        <p:spPr>
          <a:xfrm>
            <a:off x="997625" y="4064794"/>
            <a:ext cx="12635151" cy="9861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dirty="0">
                <a:solidFill>
                  <a:srgbClr val="333F70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z = np.polyfit(x, y, 2)</a:t>
            </a:r>
            <a:endParaRPr lang="en-US" sz="1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ts val="2550"/>
              </a:lnSpc>
              <a:buNone/>
            </a:pPr>
            <a:r>
              <a:rPr lang="en-US" sz="1650" dirty="0">
                <a:solidFill>
                  <a:srgbClr val="333F70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p = np.poly1d(z)</a:t>
            </a:r>
            <a:endParaRPr lang="en-US" sz="1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ts val="2550"/>
              </a:lnSpc>
              <a:buNone/>
            </a:pPr>
            <a:r>
              <a:rPr lang="en-US" sz="1650" dirty="0">
                <a:solidFill>
                  <a:srgbClr val="333F70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forecast = p(future_x)</a:t>
            </a:r>
            <a:endParaRPr lang="en-US" sz="1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742950" y="5561052"/>
            <a:ext cx="3184208" cy="3979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2500" b="1" dirty="0">
                <a:solidFill>
                  <a:srgbClr val="333F70"/>
                </a:solidFill>
                <a:latin typeface="Times New Roman" panose="02020603050405020304" pitchFamily="18" charset="0"/>
                <a:ea typeface="Unbounded Bold" pitchFamily="34" charset="-122"/>
                <a:cs typeface="Times New Roman" panose="02020603050405020304" pitchFamily="18" charset="0"/>
              </a:rPr>
              <a:t>Feature</a:t>
            </a: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42950" y="6256853"/>
            <a:ext cx="13144500" cy="7269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50" dirty="0">
                <a:solidFill>
                  <a:srgbClr val="333F70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Future prediction</a:t>
            </a:r>
            <a:endParaRPr lang="en-US" sz="1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50" dirty="0">
                <a:solidFill>
                  <a:srgbClr val="333F70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Confidence interval (uncertainty cone)</a:t>
            </a:r>
            <a:endParaRPr lang="en-US" sz="1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742950" y="7207329"/>
            <a:ext cx="13144500" cy="3287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dirty="0">
                <a:solidFill>
                  <a:srgbClr val="333F70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Moves project from </a:t>
            </a:r>
            <a:r>
              <a:rPr lang="en-US" sz="1650" b="1" dirty="0">
                <a:solidFill>
                  <a:srgbClr val="333F70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analysis → prediction</a:t>
            </a:r>
            <a:endParaRPr lang="en-US" sz="1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66DF8A4-B978-D653-FBF1-48A7F6D3C7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0"/>
            <a:ext cx="7315200" cy="822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413913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04255"/>
            <a:ext cx="871501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33F70"/>
                </a:solidFill>
                <a:latin typeface="Times New Roman" panose="02020603050405020304" pitchFamily="18" charset="0"/>
                <a:ea typeface="Unbounded Bold" pitchFamily="34" charset="-122"/>
                <a:cs typeface="Times New Roman" panose="02020603050405020304" pitchFamily="18" charset="0"/>
              </a:rPr>
              <a:t>Economic Impact Model </a:t>
            </a:r>
            <a:endParaRPr lang="en-US" sz="4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3790" y="1503759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333F70"/>
                </a:solidFill>
                <a:latin typeface="Times New Roman" panose="02020603050405020304" pitchFamily="18" charset="0"/>
                <a:ea typeface="Unbounded Bold" pitchFamily="34" charset="-122"/>
                <a:cs typeface="Times New Roman" panose="02020603050405020304" pitchFamily="18" charset="0"/>
              </a:rPr>
              <a:t>What I Built</a:t>
            </a:r>
            <a:endParaRPr lang="en-US" sz="2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93790" y="2269212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33F70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Business-oriented metrics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793790" y="2972276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333F70"/>
                </a:solidFill>
                <a:latin typeface="Times New Roman" panose="02020603050405020304" pitchFamily="18" charset="0"/>
                <a:ea typeface="Unbounded Bold" pitchFamily="34" charset="-122"/>
                <a:cs typeface="Times New Roman" panose="02020603050405020304" pitchFamily="18" charset="0"/>
              </a:rPr>
              <a:t>Metrics</a:t>
            </a:r>
            <a:endParaRPr lang="en-US" sz="2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793790" y="3737729"/>
            <a:ext cx="13042821" cy="12472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33F70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Supply Chain Disruption Days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33F70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Infrastructure Risk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33F70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Agricultural Volatility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793790" y="5325189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333F70"/>
                </a:solidFill>
                <a:latin typeface="Times New Roman" panose="02020603050405020304" pitchFamily="18" charset="0"/>
                <a:ea typeface="Unbounded Bold" pitchFamily="34" charset="-122"/>
                <a:cs typeface="Times New Roman" panose="02020603050405020304" pitchFamily="18" charset="0"/>
              </a:rPr>
              <a:t>Code</a:t>
            </a:r>
            <a:endParaRPr lang="en-US" sz="2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793790" y="6090642"/>
            <a:ext cx="13042821" cy="816531"/>
          </a:xfrm>
          <a:prstGeom prst="roundRect">
            <a:avLst>
              <a:gd name="adj" fmla="val 11667"/>
            </a:avLst>
          </a:prstGeom>
          <a:solidFill>
            <a:srgbClr val="F2F2F2"/>
          </a:solidFill>
          <a:ln/>
        </p:spPr>
      </p:sp>
      <p:sp>
        <p:nvSpPr>
          <p:cNvPr id="9" name="Shape 7"/>
          <p:cNvSpPr/>
          <p:nvPr/>
        </p:nvSpPr>
        <p:spPr>
          <a:xfrm>
            <a:off x="782479" y="6090642"/>
            <a:ext cx="13065443" cy="816531"/>
          </a:xfrm>
          <a:prstGeom prst="roundRect">
            <a:avLst>
              <a:gd name="adj" fmla="val 4167"/>
            </a:avLst>
          </a:prstGeom>
          <a:solidFill>
            <a:srgbClr val="F2F2F2"/>
          </a:solidFill>
          <a:ln/>
        </p:spPr>
      </p:sp>
      <p:sp>
        <p:nvSpPr>
          <p:cNvPr id="10" name="Text 8"/>
          <p:cNvSpPr/>
          <p:nvPr/>
        </p:nvSpPr>
        <p:spPr>
          <a:xfrm>
            <a:off x="1065967" y="6317456"/>
            <a:ext cx="1249846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sns.heatmap(df.corr(), annot=True)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793790" y="7162324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Climate data → business insights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D5743BC-A489-D67F-0B53-9A1C84E9D3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1108" y="0"/>
            <a:ext cx="7639291" cy="822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239401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4253" y="1046083"/>
            <a:ext cx="12142113" cy="6198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333F70"/>
                </a:solidFill>
                <a:latin typeface="Times New Roman" panose="02020603050405020304" pitchFamily="18" charset="0"/>
                <a:ea typeface="Unbounded Bold" pitchFamily="34" charset="-122"/>
                <a:cs typeface="Times New Roman" panose="02020603050405020304" pitchFamily="18" charset="0"/>
              </a:rPr>
              <a:t>Kaggle API Integration (Real-Time Data)</a:t>
            </a:r>
            <a:endParaRPr lang="en-US" sz="3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694253" y="1735217"/>
            <a:ext cx="3774043" cy="3718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333F70"/>
                </a:solidFill>
                <a:latin typeface="Times New Roman" panose="02020603050405020304" pitchFamily="18" charset="0"/>
                <a:ea typeface="Unbounded Bold" pitchFamily="34" charset="-122"/>
                <a:cs typeface="Times New Roman" panose="02020603050405020304" pitchFamily="18" charset="0"/>
              </a:rPr>
              <a:t>What I Implemented</a:t>
            </a:r>
            <a:endParaRPr 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694253" y="2367201"/>
            <a:ext cx="13241893" cy="6554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550" dirty="0">
                <a:solidFill>
                  <a:srgbClr val="333F70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Automated dataset download</a:t>
            </a:r>
            <a:endParaRPr lang="en-US" sz="15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550" dirty="0">
                <a:solidFill>
                  <a:srgbClr val="333F70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Real-time data updates</a:t>
            </a:r>
            <a:endParaRPr lang="en-US" sz="15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694253" y="3282791"/>
            <a:ext cx="2975372" cy="3718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333F70"/>
                </a:solidFill>
                <a:latin typeface="Times New Roman" panose="02020603050405020304" pitchFamily="18" charset="0"/>
                <a:ea typeface="Unbounded Bold" pitchFamily="34" charset="-122"/>
                <a:cs typeface="Times New Roman" panose="02020603050405020304" pitchFamily="18" charset="0"/>
              </a:rPr>
              <a:t>Code</a:t>
            </a:r>
            <a:endParaRPr 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94253" y="3914775"/>
            <a:ext cx="13241893" cy="2776061"/>
          </a:xfrm>
          <a:prstGeom prst="roundRect">
            <a:avLst>
              <a:gd name="adj" fmla="val 3001"/>
            </a:avLst>
          </a:prstGeom>
          <a:solidFill>
            <a:srgbClr val="F2F2F2"/>
          </a:solidFill>
          <a:ln/>
        </p:spPr>
      </p:sp>
      <p:sp>
        <p:nvSpPr>
          <p:cNvPr id="7" name="Shape 5"/>
          <p:cNvSpPr/>
          <p:nvPr/>
        </p:nvSpPr>
        <p:spPr>
          <a:xfrm>
            <a:off x="684371" y="3914775"/>
            <a:ext cx="13261658" cy="2776061"/>
          </a:xfrm>
          <a:prstGeom prst="roundRect">
            <a:avLst>
              <a:gd name="adj" fmla="val 1072"/>
            </a:avLst>
          </a:prstGeom>
          <a:solidFill>
            <a:srgbClr val="F2F2F2"/>
          </a:solidFill>
          <a:ln/>
        </p:spPr>
      </p:sp>
      <p:sp>
        <p:nvSpPr>
          <p:cNvPr id="8" name="Text 6"/>
          <p:cNvSpPr/>
          <p:nvPr/>
        </p:nvSpPr>
        <p:spPr>
          <a:xfrm>
            <a:off x="932259" y="4113133"/>
            <a:ext cx="12765881" cy="23793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dirty="0">
                <a:solidFill>
                  <a:srgbClr val="D73A49"/>
                </a:solidFill>
                <a:highlight>
                  <a:srgbClr val="F2F2F2"/>
                </a:highlight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from kaggle.api.kaggle_api_extended import KaggleApi</a:t>
            </a:r>
            <a:endParaRPr lang="en-US" sz="15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ts val="2300"/>
              </a:lnSpc>
              <a:buNone/>
            </a:pPr>
            <a:r>
              <a:rPr lang="en-US" sz="1550" dirty="0">
                <a:solidFill>
                  <a:srgbClr val="D73A49"/>
                </a:solidFill>
                <a:highlight>
                  <a:srgbClr val="F2F2F2"/>
                </a:highlight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api = KaggleApi()</a:t>
            </a:r>
            <a:endParaRPr lang="en-US" sz="15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ts val="2300"/>
              </a:lnSpc>
              <a:buNone/>
            </a:pPr>
            <a:r>
              <a:rPr lang="en-US" sz="1550" dirty="0">
                <a:solidFill>
                  <a:srgbClr val="D73A49"/>
                </a:solidFill>
                <a:highlight>
                  <a:srgbClr val="F2F2F2"/>
                </a:highlight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api.authenticate()</a:t>
            </a:r>
            <a:endParaRPr lang="en-US" sz="15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ts val="2300"/>
              </a:lnSpc>
              <a:buNone/>
            </a:pPr>
            <a:r>
              <a:rPr lang="en-US" sz="1550" dirty="0">
                <a:solidFill>
                  <a:srgbClr val="D73A49"/>
                </a:solidFill>
                <a:highlight>
                  <a:srgbClr val="F2F2F2"/>
                </a:highlight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api.dataset_download_files(</a:t>
            </a:r>
            <a:endParaRPr lang="en-US" sz="15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ts val="2300"/>
              </a:lnSpc>
              <a:buNone/>
            </a:pPr>
            <a:r>
              <a:rPr lang="en-US" sz="1550" dirty="0">
                <a:solidFill>
                  <a:srgbClr val="D73A49"/>
                </a:solidFill>
                <a:highlight>
                  <a:srgbClr val="F2F2F2"/>
                </a:highlight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   "nelgiriyewithana/global-weather-repository",</a:t>
            </a:r>
            <a:endParaRPr lang="en-US" sz="15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ts val="2300"/>
              </a:lnSpc>
              <a:buNone/>
            </a:pPr>
            <a:r>
              <a:rPr lang="en-US" sz="1550" dirty="0">
                <a:solidFill>
                  <a:srgbClr val="D73A49"/>
                </a:solidFill>
                <a:highlight>
                  <a:srgbClr val="F2F2F2"/>
                </a:highlight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   path="data/",</a:t>
            </a:r>
            <a:endParaRPr lang="en-US" sz="15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ts val="2300"/>
              </a:lnSpc>
              <a:buNone/>
            </a:pPr>
            <a:r>
              <a:rPr lang="en-US" sz="1550" dirty="0">
                <a:solidFill>
                  <a:srgbClr val="D73A49"/>
                </a:solidFill>
                <a:highlight>
                  <a:srgbClr val="F2F2F2"/>
                </a:highlight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   unzip=True</a:t>
            </a:r>
            <a:endParaRPr lang="en-US" sz="15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ts val="2300"/>
              </a:lnSpc>
              <a:buNone/>
            </a:pPr>
            <a:r>
              <a:rPr lang="en-US" sz="1550" dirty="0">
                <a:solidFill>
                  <a:srgbClr val="D73A49"/>
                </a:solidFill>
                <a:highlight>
                  <a:srgbClr val="F2F2F2"/>
                </a:highlight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)</a:t>
            </a:r>
            <a:endParaRPr lang="en-US" sz="15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694253" y="6885980"/>
            <a:ext cx="13241893" cy="2974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dirty="0">
                <a:solidFill>
                  <a:srgbClr val="333F70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Enables </a:t>
            </a:r>
            <a:r>
              <a:rPr lang="en-US" sz="1550" b="1" dirty="0">
                <a:solidFill>
                  <a:srgbClr val="333F70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live data analysis</a:t>
            </a:r>
            <a:endParaRPr lang="en-US" sz="15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F7233E6-2880-E274-B1B1-1C332DC245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1303" y="3955407"/>
            <a:ext cx="3915840" cy="2632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005041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444228"/>
            <a:ext cx="1077206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5400" b="1" dirty="0">
                <a:solidFill>
                  <a:srgbClr val="333F70"/>
                </a:solidFill>
                <a:latin typeface="Times New Roman" panose="02020603050405020304" pitchFamily="18" charset="0"/>
                <a:ea typeface="Unbounded Bold" pitchFamily="34" charset="-122"/>
                <a:cs typeface="Times New Roman" panose="02020603050405020304" pitchFamily="18" charset="0"/>
              </a:rPr>
              <a:t>Deployment (Render Platform)</a:t>
            </a:r>
            <a:endParaRPr lang="en-US" sz="5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3790" y="2243733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3200" b="1" dirty="0">
                <a:solidFill>
                  <a:srgbClr val="333F70"/>
                </a:solidFill>
                <a:latin typeface="Times New Roman" panose="02020603050405020304" pitchFamily="18" charset="0"/>
                <a:ea typeface="Unbounded Bold" pitchFamily="34" charset="-122"/>
                <a:cs typeface="Times New Roman" panose="02020603050405020304" pitchFamily="18" charset="0"/>
              </a:rPr>
              <a:t>Deployment</a:t>
            </a:r>
          </a:p>
          <a:p>
            <a:pPr marL="0" indent="0" algn="l">
              <a:lnSpc>
                <a:spcPts val="3300"/>
              </a:lnSpc>
              <a:buNone/>
            </a:pPr>
            <a:endParaRPr lang="en-US" sz="3200" b="1" dirty="0">
              <a:solidFill>
                <a:srgbClr val="333F70"/>
              </a:solidFill>
              <a:latin typeface="Times New Roman" panose="02020603050405020304" pitchFamily="18" charset="0"/>
              <a:ea typeface="Unbounded Bold" pitchFamily="34" charset="-122"/>
              <a:cs typeface="Times New Roman" panose="02020603050405020304" pitchFamily="18" charset="0"/>
            </a:endParaRPr>
          </a:p>
          <a:p>
            <a:pPr>
              <a:lnSpc>
                <a:spcPts val="3300"/>
              </a:lnSpc>
            </a:pPr>
            <a:r>
              <a:rPr lang="en-US" sz="3200" b="1" dirty="0">
                <a:solidFill>
                  <a:srgbClr val="333F70"/>
                </a:solidFill>
                <a:latin typeface="Times New Roman" panose="02020603050405020304" pitchFamily="18" charset="0"/>
                <a:ea typeface="Unbounded Bold" pitchFamily="34" charset="-122"/>
                <a:cs typeface="Times New Roman" panose="02020603050405020304" pitchFamily="18" charset="0"/>
              </a:rPr>
              <a:t>Link </a:t>
            </a:r>
            <a:r>
              <a:rPr lang="en-US" sz="3200" b="1" dirty="0">
                <a:solidFill>
                  <a:srgbClr val="333F70"/>
                </a:solidFill>
                <a:latin typeface="Times New Roman" panose="02020603050405020304" pitchFamily="18" charset="0"/>
                <a:ea typeface="Unbounded Bold" pitchFamily="34" charset="-122"/>
                <a:cs typeface="Times New Roman" panose="02020603050405020304" pitchFamily="18" charset="0"/>
                <a:hlinkClick r:id="rId3"/>
              </a:rPr>
              <a:t>https://climatescope.onrender.com/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697537" y="3732073"/>
            <a:ext cx="13042821" cy="8051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000" dirty="0">
                <a:solidFill>
                  <a:srgbClr val="333F70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Hosted on Render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000" dirty="0">
                <a:solidFill>
                  <a:srgbClr val="333F70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Web-based dashboard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793790" y="4707255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3200" b="1" dirty="0">
                <a:solidFill>
                  <a:srgbClr val="333F70"/>
                </a:solidFill>
                <a:latin typeface="Times New Roman" panose="02020603050405020304" pitchFamily="18" charset="0"/>
                <a:ea typeface="Unbounded Bold" pitchFamily="34" charset="-122"/>
                <a:cs typeface="Times New Roman" panose="02020603050405020304" pitchFamily="18" charset="0"/>
              </a:rPr>
              <a:t>Features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793790" y="5472708"/>
            <a:ext cx="13042821" cy="12472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000" dirty="0">
                <a:solidFill>
                  <a:srgbClr val="333F70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Accessible anywhere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000" dirty="0">
                <a:solidFill>
                  <a:srgbClr val="333F70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Scalable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000" dirty="0">
                <a:solidFill>
                  <a:srgbClr val="333F70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Live updates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793790" y="6975157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solidFill>
                  <a:srgbClr val="333F70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Converts project → real-world application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93A7722-B8A6-6150-7D09-1B7A830BB5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77193" y="2123244"/>
            <a:ext cx="5653207" cy="6023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065031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542336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33F70"/>
                </a:solidFill>
                <a:latin typeface="Times New Roman" panose="02020603050405020304" pitchFamily="18" charset="0"/>
                <a:ea typeface="Unbounded Bold" pitchFamily="34" charset="-122"/>
                <a:cs typeface="Times New Roman" panose="02020603050405020304" pitchFamily="18" charset="0"/>
              </a:rPr>
              <a:t>System Testing</a:t>
            </a:r>
            <a:endParaRPr lang="en-US" sz="4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3790" y="2341840"/>
            <a:ext cx="5897047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333F70"/>
                </a:solidFill>
                <a:latin typeface="Times New Roman" panose="02020603050405020304" pitchFamily="18" charset="0"/>
                <a:ea typeface="Unbounded Bold" pitchFamily="34" charset="-122"/>
                <a:cs typeface="Times New Roman" panose="02020603050405020304" pitchFamily="18" charset="0"/>
              </a:rPr>
              <a:t>Types of Testing Performed</a:t>
            </a:r>
            <a:endParaRPr lang="en-US" sz="2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793790" y="3107293"/>
            <a:ext cx="6407944" cy="1322189"/>
          </a:xfrm>
          <a:prstGeom prst="roundRect">
            <a:avLst>
              <a:gd name="adj" fmla="val 7205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8224" y="3341727"/>
            <a:ext cx="329255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Times New Roman" panose="02020603050405020304" pitchFamily="18" charset="0"/>
                <a:ea typeface="Unbounded Bold" pitchFamily="34" charset="-122"/>
                <a:cs typeface="Times New Roman" panose="02020603050405020304" pitchFamily="18" charset="0"/>
              </a:rPr>
              <a:t>Functional Testing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1028224" y="3832146"/>
            <a:ext cx="59390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All pages working correctly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7428548" y="3107293"/>
            <a:ext cx="6408063" cy="1322189"/>
          </a:xfrm>
          <a:prstGeom prst="roundRect">
            <a:avLst>
              <a:gd name="adj" fmla="val 7205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62982" y="334172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Times New Roman" panose="02020603050405020304" pitchFamily="18" charset="0"/>
                <a:ea typeface="Unbounded Bold" pitchFamily="34" charset="-122"/>
                <a:cs typeface="Times New Roman" panose="02020603050405020304" pitchFamily="18" charset="0"/>
              </a:rPr>
              <a:t>Data Validation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7662982" y="3832146"/>
            <a:ext cx="593919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Verified calculations and outputs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793790" y="4656296"/>
            <a:ext cx="6407944" cy="1322189"/>
          </a:xfrm>
          <a:prstGeom prst="roundRect">
            <a:avLst>
              <a:gd name="adj" fmla="val 7205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28224" y="489073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Times New Roman" panose="02020603050405020304" pitchFamily="18" charset="0"/>
                <a:ea typeface="Unbounded Bold" pitchFamily="34" charset="-122"/>
                <a:cs typeface="Times New Roman" panose="02020603050405020304" pitchFamily="18" charset="0"/>
              </a:rPr>
              <a:t>UI Testing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028224" y="5381149"/>
            <a:ext cx="59390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Checked layout and responsiveness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7428548" y="4656296"/>
            <a:ext cx="6408063" cy="1322189"/>
          </a:xfrm>
          <a:prstGeom prst="roundRect">
            <a:avLst>
              <a:gd name="adj" fmla="val 7205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662982" y="4890730"/>
            <a:ext cx="374392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Times New Roman" panose="02020603050405020304" pitchFamily="18" charset="0"/>
                <a:ea typeface="Unbounded Bold" pitchFamily="34" charset="-122"/>
                <a:cs typeface="Times New Roman" panose="02020603050405020304" pitchFamily="18" charset="0"/>
              </a:rPr>
              <a:t>Performance Testing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7662982" y="5381149"/>
            <a:ext cx="593919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Ensured smooth execution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793790" y="6233636"/>
            <a:ext cx="13042821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Ensured accuracy and reliability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007379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987034"/>
            <a:ext cx="778061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33F70"/>
                </a:solidFill>
                <a:latin typeface="Times New Roman" panose="02020603050405020304" pitchFamily="18" charset="0"/>
                <a:ea typeface="Unbounded Bold" pitchFamily="34" charset="-122"/>
                <a:cs typeface="Times New Roman" panose="02020603050405020304" pitchFamily="18" charset="0"/>
              </a:rPr>
              <a:t>Dashboard Validation</a:t>
            </a:r>
            <a:endParaRPr lang="en-US" sz="4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3790" y="2786539"/>
            <a:ext cx="3805118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333F70"/>
                </a:solidFill>
                <a:latin typeface="Times New Roman" panose="02020603050405020304" pitchFamily="18" charset="0"/>
                <a:ea typeface="Unbounded Bold" pitchFamily="34" charset="-122"/>
                <a:cs typeface="Times New Roman" panose="02020603050405020304" pitchFamily="18" charset="0"/>
              </a:rPr>
              <a:t>What Was Tested</a:t>
            </a:r>
            <a:endParaRPr lang="en-US" sz="2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793790" y="3551992"/>
            <a:ext cx="6407944" cy="877491"/>
          </a:xfrm>
          <a:prstGeom prst="roundRect">
            <a:avLst>
              <a:gd name="adj" fmla="val 10857"/>
            </a:avLst>
          </a:prstGeom>
          <a:solidFill>
            <a:srgbClr val="FFFFFF"/>
          </a:solidFill>
          <a:ln w="30480">
            <a:solidFill>
              <a:srgbClr val="BCDB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1084" y="3809286"/>
            <a:ext cx="589335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All visualizations render correctly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7428548" y="3551992"/>
            <a:ext cx="6408063" cy="877491"/>
          </a:xfrm>
          <a:prstGeom prst="roundRect">
            <a:avLst>
              <a:gd name="adj" fmla="val 10857"/>
            </a:avLst>
          </a:prstGeom>
          <a:solidFill>
            <a:srgbClr val="FFFFFF"/>
          </a:solidFill>
          <a:ln w="30480">
            <a:solidFill>
              <a:srgbClr val="BCDB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85842" y="3809286"/>
            <a:ext cx="589347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Filters update charts dynamically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793790" y="4656296"/>
            <a:ext cx="6407944" cy="877491"/>
          </a:xfrm>
          <a:prstGeom prst="roundRect">
            <a:avLst>
              <a:gd name="adj" fmla="val 10857"/>
            </a:avLst>
          </a:prstGeom>
          <a:solidFill>
            <a:srgbClr val="FFFFFF"/>
          </a:solidFill>
          <a:ln w="30480">
            <a:solidFill>
              <a:srgbClr val="BCDB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084" y="4913590"/>
            <a:ext cx="589335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KPI values are accurate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7428548" y="4656296"/>
            <a:ext cx="6408063" cy="877491"/>
          </a:xfrm>
          <a:prstGeom prst="roundRect">
            <a:avLst>
              <a:gd name="adj" fmla="val 10857"/>
            </a:avLst>
          </a:prstGeom>
          <a:solidFill>
            <a:srgbClr val="FFFFFF"/>
          </a:solidFill>
          <a:ln w="30480">
            <a:solidFill>
              <a:srgbClr val="BCDB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685842" y="4913590"/>
            <a:ext cx="589347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Navigation across pages works smoothly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793790" y="5788938"/>
            <a:ext cx="13042821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50"/>
              </a:lnSpc>
              <a:buNone/>
            </a:pPr>
            <a:r>
              <a:rPr lang="en-US" sz="2200" b="1" dirty="0">
                <a:solidFill>
                  <a:srgbClr val="26A688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 Ensures user-friendly experience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323636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94980"/>
            <a:ext cx="814232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33F70"/>
                </a:solidFill>
                <a:latin typeface="Times New Roman" panose="02020603050405020304" pitchFamily="18" charset="0"/>
                <a:ea typeface="Unbounded Bold" pitchFamily="34" charset="-122"/>
                <a:cs typeface="Times New Roman" panose="02020603050405020304" pitchFamily="18" charset="0"/>
              </a:rPr>
              <a:t>Insight Summarization</a:t>
            </a:r>
            <a:endParaRPr lang="en-US" sz="4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3790" y="1594485"/>
            <a:ext cx="405515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333F70"/>
                </a:solidFill>
                <a:latin typeface="Times New Roman" panose="02020603050405020304" pitchFamily="18" charset="0"/>
                <a:ea typeface="Unbounded Bold" pitchFamily="34" charset="-122"/>
                <a:cs typeface="Times New Roman" panose="02020603050405020304" pitchFamily="18" charset="0"/>
              </a:rPr>
              <a:t>Key Global Insights</a:t>
            </a:r>
            <a:endParaRPr lang="en-US" sz="2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793790" y="2359938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530906" y="2433638"/>
            <a:ext cx="1230570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Temperature varies significantly across regions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793790" y="3323868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530906" y="3397568"/>
            <a:ext cx="1230570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Extreme heat events concentrated in tropical areas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793790" y="4287798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0906" y="4361498"/>
            <a:ext cx="1230570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Rainfall distribution is uneven globally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793790" y="5251728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530906" y="5325428"/>
            <a:ext cx="1230570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Wind intensity higher in storm-prone zones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793790" y="6215658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530906" y="6289358"/>
            <a:ext cx="1230570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Climate risk varies by country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793790" y="6981111"/>
            <a:ext cx="13042821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50"/>
              </a:lnSpc>
              <a:buNone/>
            </a:pPr>
            <a:r>
              <a:rPr lang="en-US" sz="2200" b="1" dirty="0">
                <a:solidFill>
                  <a:srgbClr val="26A688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Dashboard provides meaningful insights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047797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364694"/>
            <a:ext cx="930413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33F70"/>
                </a:solidFill>
                <a:latin typeface="Times New Roman" panose="02020603050405020304" pitchFamily="18" charset="0"/>
                <a:ea typeface="Unbounded Bold" pitchFamily="34" charset="-122"/>
                <a:cs typeface="Times New Roman" panose="02020603050405020304" pitchFamily="18" charset="0"/>
              </a:rPr>
              <a:t>Success Criteria Achieved</a:t>
            </a:r>
            <a:endParaRPr lang="en-US" sz="4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793790" y="2651879"/>
            <a:ext cx="113348" cy="113348"/>
          </a:xfrm>
          <a:prstGeom prst="roundRect">
            <a:avLst>
              <a:gd name="adj" fmla="val 403360"/>
            </a:avLst>
          </a:prstGeom>
          <a:solidFill>
            <a:srgbClr val="26A688"/>
          </a:solidFill>
          <a:ln/>
        </p:spPr>
      </p:sp>
      <p:sp>
        <p:nvSpPr>
          <p:cNvPr id="4" name="Text 2"/>
          <p:cNvSpPr/>
          <p:nvPr/>
        </p:nvSpPr>
        <p:spPr>
          <a:xfrm>
            <a:off x="1133951" y="2527102"/>
            <a:ext cx="1270265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Dashboard is stable and bug-free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793790" y="3468410"/>
            <a:ext cx="113348" cy="113348"/>
          </a:xfrm>
          <a:prstGeom prst="roundRect">
            <a:avLst>
              <a:gd name="adj" fmla="val 403360"/>
            </a:avLst>
          </a:prstGeom>
          <a:solidFill>
            <a:srgbClr val="26A688"/>
          </a:solidFill>
          <a:ln/>
        </p:spPr>
      </p:sp>
      <p:sp>
        <p:nvSpPr>
          <p:cNvPr id="6" name="Text 4"/>
          <p:cNvSpPr/>
          <p:nvPr/>
        </p:nvSpPr>
        <p:spPr>
          <a:xfrm>
            <a:off x="1133951" y="3343632"/>
            <a:ext cx="1270265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All features working correctly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793790" y="4284940"/>
            <a:ext cx="113348" cy="113348"/>
          </a:xfrm>
          <a:prstGeom prst="roundRect">
            <a:avLst>
              <a:gd name="adj" fmla="val 403360"/>
            </a:avLst>
          </a:prstGeom>
          <a:solidFill>
            <a:srgbClr val="26A688"/>
          </a:solidFill>
          <a:ln/>
        </p:spPr>
      </p:sp>
      <p:sp>
        <p:nvSpPr>
          <p:cNvPr id="8" name="Text 6"/>
          <p:cNvSpPr/>
          <p:nvPr/>
        </p:nvSpPr>
        <p:spPr>
          <a:xfrm>
            <a:off x="1133951" y="4160163"/>
            <a:ext cx="1270265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Interactivity functioning properly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793790" y="5101471"/>
            <a:ext cx="113348" cy="113348"/>
          </a:xfrm>
          <a:prstGeom prst="roundRect">
            <a:avLst>
              <a:gd name="adj" fmla="val 403360"/>
            </a:avLst>
          </a:prstGeom>
          <a:solidFill>
            <a:srgbClr val="26A688"/>
          </a:solidFill>
          <a:ln/>
        </p:spPr>
      </p:sp>
      <p:sp>
        <p:nvSpPr>
          <p:cNvPr id="10" name="Text 8"/>
          <p:cNvSpPr/>
          <p:nvPr/>
        </p:nvSpPr>
        <p:spPr>
          <a:xfrm>
            <a:off x="1133951" y="4976693"/>
            <a:ext cx="1270265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Insights clearly communicated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793790" y="5918002"/>
            <a:ext cx="113348" cy="113348"/>
          </a:xfrm>
          <a:prstGeom prst="roundRect">
            <a:avLst>
              <a:gd name="adj" fmla="val 403360"/>
            </a:avLst>
          </a:prstGeom>
          <a:solidFill>
            <a:srgbClr val="26A688"/>
          </a:solidFill>
          <a:ln/>
        </p:spPr>
      </p:sp>
      <p:sp>
        <p:nvSpPr>
          <p:cNvPr id="12" name="Text 10"/>
          <p:cNvSpPr/>
          <p:nvPr/>
        </p:nvSpPr>
        <p:spPr>
          <a:xfrm>
            <a:off x="1133951" y="5793224"/>
            <a:ext cx="1270265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Report is well-structured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793790" y="6411278"/>
            <a:ext cx="13042821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50"/>
              </a:lnSpc>
              <a:buNone/>
            </a:pPr>
            <a:r>
              <a:rPr lang="en-US" sz="2200" b="1" dirty="0">
                <a:solidFill>
                  <a:srgbClr val="26A688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 Milestone successfully completed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549796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8669" y="636508"/>
            <a:ext cx="6192679" cy="695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450"/>
              </a:lnSpc>
              <a:buNone/>
            </a:pPr>
            <a:r>
              <a:rPr lang="en-US" sz="4350" b="1" dirty="0">
                <a:solidFill>
                  <a:srgbClr val="333F70"/>
                </a:solidFill>
                <a:latin typeface="Times New Roman" panose="02020603050405020304" pitchFamily="18" charset="0"/>
                <a:ea typeface="Unbounded Bold" pitchFamily="34" charset="-122"/>
                <a:cs typeface="Times New Roman" panose="02020603050405020304" pitchFamily="18" charset="0"/>
              </a:rPr>
              <a:t>Challenges Faced</a:t>
            </a:r>
            <a:endParaRPr lang="en-US" sz="4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62012" y="1779389"/>
            <a:ext cx="333732" cy="3337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01616" y="1768316"/>
            <a:ext cx="12350115" cy="35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Handling large dataset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62012" y="2894409"/>
            <a:ext cx="333732" cy="33373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501616" y="2883337"/>
            <a:ext cx="12350115" cy="35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Designing intuitive UI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62012" y="4009430"/>
            <a:ext cx="333732" cy="333732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501616" y="3998357"/>
            <a:ext cx="12350115" cy="35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Implementing forecasting logic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62012" y="5124450"/>
            <a:ext cx="333732" cy="333732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1501616" y="5113377"/>
            <a:ext cx="12350115" cy="35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Integrating real-time data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62012" y="6239470"/>
            <a:ext cx="333732" cy="333732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1501616" y="6228398"/>
            <a:ext cx="12350115" cy="35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Deploying dashboard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6"/>
          <p:cNvSpPr/>
          <p:nvPr/>
        </p:nvSpPr>
        <p:spPr>
          <a:xfrm>
            <a:off x="778669" y="7152442"/>
            <a:ext cx="13073063" cy="440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150" b="1" dirty="0">
                <a:solidFill>
                  <a:srgbClr val="26A688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 Overcame through iterative development</a:t>
            </a:r>
            <a:endParaRPr lang="en-US" sz="2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748387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149191"/>
            <a:ext cx="582513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33F70"/>
                </a:solidFill>
                <a:latin typeface="Times New Roman" panose="02020603050405020304" pitchFamily="18" charset="0"/>
                <a:ea typeface="Unbounded Bold" pitchFamily="34" charset="-122"/>
                <a:cs typeface="Times New Roman" panose="02020603050405020304" pitchFamily="18" charset="0"/>
              </a:rPr>
              <a:t>Final Conclusion</a:t>
            </a:r>
            <a:endParaRPr lang="en-US" sz="4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3790" y="1948696"/>
            <a:ext cx="361057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333F70"/>
                </a:solidFill>
                <a:latin typeface="Times New Roman" panose="02020603050405020304" pitchFamily="18" charset="0"/>
                <a:ea typeface="Unbounded Bold" pitchFamily="34" charset="-122"/>
                <a:cs typeface="Times New Roman" panose="02020603050405020304" pitchFamily="18" charset="0"/>
              </a:rPr>
              <a:t>Project Outcome</a:t>
            </a:r>
            <a:endParaRPr lang="en-US" sz="2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93790" y="2714149"/>
            <a:ext cx="13042821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ClimateScope is a: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793790" y="3422809"/>
            <a:ext cx="6407944" cy="831771"/>
          </a:xfrm>
          <a:prstGeom prst="roundRect">
            <a:avLst>
              <a:gd name="adj" fmla="val 11454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8224" y="3657243"/>
            <a:ext cx="59390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Data-driven dashboard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7428548" y="3422809"/>
            <a:ext cx="6408063" cy="831771"/>
          </a:xfrm>
          <a:prstGeom prst="roundRect">
            <a:avLst>
              <a:gd name="adj" fmla="val 11454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62982" y="3657243"/>
            <a:ext cx="593919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Interactive analytics system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793790" y="4481393"/>
            <a:ext cx="6407944" cy="831771"/>
          </a:xfrm>
          <a:prstGeom prst="roundRect">
            <a:avLst>
              <a:gd name="adj" fmla="val 11454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28224" y="4715828"/>
            <a:ext cx="59390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Predictive platform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7428548" y="4481393"/>
            <a:ext cx="6408063" cy="831771"/>
          </a:xfrm>
          <a:prstGeom prst="roundRect">
            <a:avLst>
              <a:gd name="adj" fmla="val 11454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662982" y="4715828"/>
            <a:ext cx="593919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Business intelligence tool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793790" y="5539978"/>
            <a:ext cx="6407944" cy="831771"/>
          </a:xfrm>
          <a:prstGeom prst="roundRect">
            <a:avLst>
              <a:gd name="adj" fmla="val 11454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28224" y="5774412"/>
            <a:ext cx="59390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Real-time application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7428548" y="5539978"/>
            <a:ext cx="6408063" cy="831771"/>
          </a:xfrm>
          <a:prstGeom prst="roundRect">
            <a:avLst>
              <a:gd name="adj" fmla="val 11454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662982" y="5774412"/>
            <a:ext cx="593919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Cloud-deployed solution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793790" y="6626900"/>
            <a:ext cx="13042821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50"/>
              </a:lnSpc>
              <a:buNone/>
            </a:pPr>
            <a:r>
              <a:rPr lang="en-US" sz="2200" b="1" dirty="0">
                <a:solidFill>
                  <a:srgbClr val="26A688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 Demonstrates complete data product development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650267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69537" y="3753326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33F70"/>
                </a:solidFill>
                <a:latin typeface="Times New Roman" panose="02020603050405020304" pitchFamily="18" charset="0"/>
                <a:ea typeface="Unbounded Bold" pitchFamily="34" charset="-122"/>
                <a:cs typeface="Times New Roman" panose="02020603050405020304" pitchFamily="18" charset="0"/>
              </a:rPr>
              <a:t>Thank You</a:t>
            </a:r>
            <a:endParaRPr lang="en-US" sz="4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3790" y="3753326"/>
            <a:ext cx="11558111" cy="9782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700"/>
              </a:lnSpc>
              <a:buNone/>
            </a:pPr>
            <a:endParaRPr lang="en-US" sz="6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93790" y="5071705"/>
            <a:ext cx="13042821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50"/>
              </a:lnSpc>
              <a:buNone/>
            </a:pPr>
            <a:r>
              <a:rPr lang="en-US" sz="2200" dirty="0">
                <a:solidFill>
                  <a:srgbClr val="333F70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.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47353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609</TotalTime>
  <Words>1254</Words>
  <Application>Microsoft Office PowerPoint</Application>
  <PresentationFormat>Custom</PresentationFormat>
  <Paragraphs>331</Paragraphs>
  <Slides>29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gaurav chauhan</dc:creator>
  <cp:lastModifiedBy>gaurav chauhan</cp:lastModifiedBy>
  <cp:revision>7</cp:revision>
  <dcterms:created xsi:type="dcterms:W3CDTF">2026-03-30T12:43:27Z</dcterms:created>
  <dcterms:modified xsi:type="dcterms:W3CDTF">2026-04-03T13:43:44Z</dcterms:modified>
</cp:coreProperties>
</file>