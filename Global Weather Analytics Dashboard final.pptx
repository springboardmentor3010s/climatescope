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1" r:id="rId1"/>
  </p:sldMasterIdLst>
  <p:sldIdLst>
    <p:sldId id="256"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D218122-55C0-4C04-8551-71032E4FC9DC}"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321572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218122-55C0-4C04-8551-71032E4FC9DC}"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474415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218122-55C0-4C04-8551-71032E4FC9DC}"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3487308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D218122-55C0-4C04-8551-71032E4FC9DC}"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807067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D218122-55C0-4C04-8551-71032E4FC9DC}" type="datetimeFigureOut">
              <a:rPr lang="en-IN" smtClean="0"/>
              <a:t>06-04-2026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506821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218122-55C0-4C04-8551-71032E4FC9DC}" type="datetimeFigureOut">
              <a:rPr lang="en-IN" smtClean="0"/>
              <a:t>06-04-2026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34473926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218122-55C0-4C04-8551-71032E4FC9DC}" type="datetimeFigureOut">
              <a:rPr lang="en-IN" smtClean="0"/>
              <a:t>06-04-2026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1799831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218122-55C0-4C04-8551-71032E4FC9DC}"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3401313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218122-55C0-4C04-8551-71032E4FC9DC}"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2607137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218122-55C0-4C04-8551-71032E4FC9DC}"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4168482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218122-55C0-4C04-8551-71032E4FC9DC}"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1997AA4-7296-4E1E-AEB9-FBDCB14D9A59}"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219330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D218122-55C0-4C04-8551-71032E4FC9DC}"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3671099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D218122-55C0-4C04-8551-71032E4FC9DC}"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97AA4-7296-4E1E-AEB9-FBDCB14D9A59}"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88621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D218122-55C0-4C04-8551-71032E4FC9DC}" type="datetimeFigureOut">
              <a:rPr lang="en-IN" smtClean="0"/>
              <a:t>06-04-2026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22538550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218122-55C0-4C04-8551-71032E4FC9DC}"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33071242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D218122-55C0-4C04-8551-71032E4FC9DC}" type="datetimeFigureOut">
              <a:rPr lang="en-IN" smtClean="0"/>
              <a:t>06-04-2026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1997AA4-7296-4E1E-AEB9-FBDCB14D9A59}" type="slidenum">
              <a:rPr lang="en-IN" smtClean="0"/>
              <a:t>‹#›</a:t>
            </a:fld>
            <a:endParaRPr lang="en-IN"/>
          </a:p>
        </p:txBody>
      </p:sp>
    </p:spTree>
    <p:extLst>
      <p:ext uri="{BB962C8B-B14F-4D97-AF65-F5344CB8AC3E}">
        <p14:creationId xmlns:p14="http://schemas.microsoft.com/office/powerpoint/2010/main" val="3039303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D218122-55C0-4C04-8551-71032E4FC9DC}" type="datetimeFigureOut">
              <a:rPr lang="en-IN" smtClean="0"/>
              <a:t>06-04-2026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1997AA4-7296-4E1E-AEB9-FBDCB14D9A59}" type="slidenum">
              <a:rPr lang="en-IN" smtClean="0"/>
              <a:t>‹#›</a:t>
            </a:fld>
            <a:endParaRPr lang="en-IN"/>
          </a:p>
        </p:txBody>
      </p:sp>
    </p:spTree>
    <p:extLst>
      <p:ext uri="{BB962C8B-B14F-4D97-AF65-F5344CB8AC3E}">
        <p14:creationId xmlns:p14="http://schemas.microsoft.com/office/powerpoint/2010/main" val="3928079167"/>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 id="2147483803" r:id="rId12"/>
    <p:sldLayoutId id="2147483804" r:id="rId13"/>
    <p:sldLayoutId id="2147483805" r:id="rId14"/>
    <p:sldLayoutId id="2147483806" r:id="rId15"/>
    <p:sldLayoutId id="214748380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1419D-AC21-D7C0-A43A-057355F5CC58}"/>
              </a:ext>
            </a:extLst>
          </p:cNvPr>
          <p:cNvSpPr>
            <a:spLocks noGrp="1"/>
          </p:cNvSpPr>
          <p:nvPr>
            <p:ph type="ctrTitle"/>
          </p:nvPr>
        </p:nvSpPr>
        <p:spPr>
          <a:xfrm>
            <a:off x="1904301" y="755010"/>
            <a:ext cx="9085277" cy="1853966"/>
          </a:xfrm>
        </p:spPr>
        <p:txBody>
          <a:bodyPr>
            <a:normAutofit/>
          </a:bodyPr>
          <a:lstStyle/>
          <a:p>
            <a:pPr algn="ctr"/>
            <a:r>
              <a:rPr lang="en-IN" dirty="0"/>
              <a:t>Global Weather Analytics Dashboard</a:t>
            </a:r>
          </a:p>
        </p:txBody>
      </p:sp>
      <p:sp>
        <p:nvSpPr>
          <p:cNvPr id="3" name="Subtitle 2">
            <a:extLst>
              <a:ext uri="{FF2B5EF4-FFF2-40B4-BE49-F238E27FC236}">
                <a16:creationId xmlns:a16="http://schemas.microsoft.com/office/drawing/2014/main" id="{206D7F97-9F7F-ACC0-44DD-A53E3190C92C}"/>
              </a:ext>
            </a:extLst>
          </p:cNvPr>
          <p:cNvSpPr>
            <a:spLocks noGrp="1"/>
          </p:cNvSpPr>
          <p:nvPr>
            <p:ph type="subTitle" idx="1"/>
          </p:nvPr>
        </p:nvSpPr>
        <p:spPr>
          <a:xfrm>
            <a:off x="8414159" y="4563612"/>
            <a:ext cx="3090454" cy="1249960"/>
          </a:xfrm>
        </p:spPr>
        <p:txBody>
          <a:bodyPr/>
          <a:lstStyle/>
          <a:p>
            <a:r>
              <a:rPr lang="en-US" dirty="0"/>
              <a:t>Presented by:</a:t>
            </a:r>
          </a:p>
          <a:p>
            <a:r>
              <a:rPr lang="en-US" dirty="0" err="1"/>
              <a:t>Boddupalli</a:t>
            </a:r>
            <a:r>
              <a:rPr lang="en-US" dirty="0"/>
              <a:t> Geethika</a:t>
            </a:r>
          </a:p>
          <a:p>
            <a:endParaRPr lang="en-IN" dirty="0"/>
          </a:p>
        </p:txBody>
      </p:sp>
      <p:sp>
        <p:nvSpPr>
          <p:cNvPr id="5" name="TextBox 4">
            <a:extLst>
              <a:ext uri="{FF2B5EF4-FFF2-40B4-BE49-F238E27FC236}">
                <a16:creationId xmlns:a16="http://schemas.microsoft.com/office/drawing/2014/main" id="{1F1AA63F-0AF3-63E0-DF7B-3C243AEBCC43}"/>
              </a:ext>
            </a:extLst>
          </p:cNvPr>
          <p:cNvSpPr txBox="1"/>
          <p:nvPr/>
        </p:nvSpPr>
        <p:spPr>
          <a:xfrm>
            <a:off x="2239861" y="3959604"/>
            <a:ext cx="3204594" cy="1837683"/>
          </a:xfrm>
          <a:prstGeom prst="rect">
            <a:avLst/>
          </a:prstGeom>
          <a:noFill/>
        </p:spPr>
        <p:txBody>
          <a:bodyPr wrap="square">
            <a:spAutoFit/>
          </a:bodyPr>
          <a:lstStyle/>
          <a:p>
            <a:pPr algn="l">
              <a:lnSpc>
                <a:spcPts val="4765"/>
              </a:lnSpc>
            </a:pPr>
            <a:r>
              <a:rPr lang="en-US" sz="1800" dirty="0">
                <a:solidFill>
                  <a:schemeClr val="tx1">
                    <a:lumMod val="95000"/>
                    <a:lumOff val="5000"/>
                  </a:schemeClr>
                </a:solidFill>
                <a:latin typeface="Arimo" panose="020B0704020202090204"/>
                <a:ea typeface="Arimo" panose="020B0704020202090204"/>
                <a:cs typeface="Arimo" panose="020B0704020202090204"/>
                <a:sym typeface="Arimo" panose="020B0704020202090204"/>
              </a:rPr>
              <a:t>Under the Guidance of,</a:t>
            </a:r>
          </a:p>
          <a:p>
            <a:pPr algn="l">
              <a:lnSpc>
                <a:spcPts val="4765"/>
              </a:lnSpc>
            </a:pPr>
            <a:r>
              <a:rPr lang="en-US" sz="1800" b="1" dirty="0">
                <a:solidFill>
                  <a:schemeClr val="tx1">
                    <a:lumMod val="95000"/>
                    <a:lumOff val="5000"/>
                  </a:schemeClr>
                </a:solidFill>
                <a:latin typeface="Arimo Bold"/>
                <a:ea typeface="Arimo Bold"/>
                <a:cs typeface="Arimo Bold"/>
                <a:sym typeface="Arimo Bold"/>
              </a:rPr>
              <a:t>Shanmukha Priya</a:t>
            </a:r>
          </a:p>
          <a:p>
            <a:pPr algn="l">
              <a:lnSpc>
                <a:spcPts val="4765"/>
              </a:lnSpc>
            </a:pPr>
            <a:r>
              <a:rPr lang="en-US" sz="1800" dirty="0">
                <a:solidFill>
                  <a:schemeClr val="tx1">
                    <a:lumMod val="95000"/>
                    <a:lumOff val="5000"/>
                  </a:schemeClr>
                </a:solidFill>
                <a:latin typeface="Arimo" panose="020B0704020202090204"/>
                <a:ea typeface="Arimo" panose="020B0704020202090204"/>
                <a:cs typeface="Arimo" panose="020B0704020202090204"/>
                <a:sym typeface="Arimo" panose="020B0704020202090204"/>
              </a:rPr>
              <a:t>Springboard Mentor</a:t>
            </a:r>
          </a:p>
        </p:txBody>
      </p:sp>
    </p:spTree>
    <p:extLst>
      <p:ext uri="{BB962C8B-B14F-4D97-AF65-F5344CB8AC3E}">
        <p14:creationId xmlns:p14="http://schemas.microsoft.com/office/powerpoint/2010/main" val="2596856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ACAE3-ED30-B067-D85E-A2884E5B6D51}"/>
              </a:ext>
            </a:extLst>
          </p:cNvPr>
          <p:cNvSpPr>
            <a:spLocks noGrp="1"/>
          </p:cNvSpPr>
          <p:nvPr>
            <p:ph type="title"/>
          </p:nvPr>
        </p:nvSpPr>
        <p:spPr/>
        <p:txBody>
          <a:bodyPr/>
          <a:lstStyle/>
          <a:p>
            <a:r>
              <a:rPr lang="en-IN" dirty="0"/>
              <a:t>Project Objectives</a:t>
            </a:r>
          </a:p>
        </p:txBody>
      </p:sp>
      <p:sp>
        <p:nvSpPr>
          <p:cNvPr id="4" name="Rectangle 1">
            <a:extLst>
              <a:ext uri="{FF2B5EF4-FFF2-40B4-BE49-F238E27FC236}">
                <a16:creationId xmlns:a16="http://schemas.microsoft.com/office/drawing/2014/main" id="{3FEDCFDA-716F-F5EA-BB64-5B463A6BE4C5}"/>
              </a:ext>
            </a:extLst>
          </p:cNvPr>
          <p:cNvSpPr>
            <a:spLocks noGrp="1" noChangeArrowheads="1"/>
          </p:cNvSpPr>
          <p:nvPr>
            <p:ph idx="1"/>
          </p:nvPr>
        </p:nvSpPr>
        <p:spPr bwMode="auto">
          <a:xfrm>
            <a:off x="2236875" y="1427048"/>
            <a:ext cx="8915400" cy="3777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Perform statistical analysis on global weather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Identify seasonal patterns and long-term trends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Detect extreme weather events (heatwaves, heavy rainfall, strong winds)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Compare weather conditions across different regions and countries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Design and develop an interactive dashboard using Microsoft Power BI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Visualize complex data using charts and graphs for better understanding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 user interaction through filters and slicers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 meaningful insights for better decision-making </a:t>
            </a:r>
          </a:p>
        </p:txBody>
      </p:sp>
    </p:spTree>
    <p:extLst>
      <p:ext uri="{BB962C8B-B14F-4D97-AF65-F5344CB8AC3E}">
        <p14:creationId xmlns:p14="http://schemas.microsoft.com/office/powerpoint/2010/main" val="32213277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9C57C-66A8-431B-5FC7-FD6E3B1BB236}"/>
              </a:ext>
            </a:extLst>
          </p:cNvPr>
          <p:cNvSpPr>
            <a:spLocks noGrp="1"/>
          </p:cNvSpPr>
          <p:nvPr>
            <p:ph type="title"/>
          </p:nvPr>
        </p:nvSpPr>
        <p:spPr/>
        <p:txBody>
          <a:bodyPr/>
          <a:lstStyle/>
          <a:p>
            <a:r>
              <a:rPr lang="en-US" dirty="0"/>
              <a:t>Perform Statistical Analysis on Global Weather Data</a:t>
            </a:r>
            <a:endParaRPr lang="en-IN" dirty="0"/>
          </a:p>
        </p:txBody>
      </p:sp>
      <p:sp>
        <p:nvSpPr>
          <p:cNvPr id="3" name="Content Placeholder 2">
            <a:extLst>
              <a:ext uri="{FF2B5EF4-FFF2-40B4-BE49-F238E27FC236}">
                <a16:creationId xmlns:a16="http://schemas.microsoft.com/office/drawing/2014/main" id="{366BB84F-AC1B-1E4B-74F8-668193CB8E9D}"/>
              </a:ext>
            </a:extLst>
          </p:cNvPr>
          <p:cNvSpPr>
            <a:spLocks noGrp="1"/>
          </p:cNvSpPr>
          <p:nvPr>
            <p:ph idx="1"/>
          </p:nvPr>
        </p:nvSpPr>
        <p:spPr>
          <a:xfrm>
            <a:off x="2589212" y="2133600"/>
            <a:ext cx="4549819" cy="3777622"/>
          </a:xfrm>
        </p:spPr>
        <p:txBody>
          <a:bodyPr/>
          <a:lstStyle/>
          <a:p>
            <a:r>
              <a:rPr lang="en-US" dirty="0"/>
              <a:t>This objective focuses on analyzing the dataset using statistical methods to understand the overall behavior of weather parameters. Measures such as mean, maximum, minimum, and standard deviation are calculated for temperature, rainfall, wind speed, and other variables. This helps in understanding the distribution, variation, and general trends present in the data.</a:t>
            </a:r>
            <a:endParaRPr lang="en-IN" dirty="0"/>
          </a:p>
        </p:txBody>
      </p:sp>
      <p:pic>
        <p:nvPicPr>
          <p:cNvPr id="5" name="Picture 4">
            <a:extLst>
              <a:ext uri="{FF2B5EF4-FFF2-40B4-BE49-F238E27FC236}">
                <a16:creationId xmlns:a16="http://schemas.microsoft.com/office/drawing/2014/main" id="{A96C7BF5-7CA1-37C3-2EB5-CDDB78225722}"/>
              </a:ext>
            </a:extLst>
          </p:cNvPr>
          <p:cNvPicPr>
            <a:picLocks noChangeAspect="1"/>
          </p:cNvPicPr>
          <p:nvPr/>
        </p:nvPicPr>
        <p:blipFill>
          <a:blip r:embed="rId2"/>
          <a:stretch>
            <a:fillRect/>
          </a:stretch>
        </p:blipFill>
        <p:spPr>
          <a:xfrm>
            <a:off x="7491369" y="2348917"/>
            <a:ext cx="4404220" cy="2768368"/>
          </a:xfrm>
          <a:prstGeom prst="rect">
            <a:avLst/>
          </a:prstGeom>
        </p:spPr>
      </p:pic>
    </p:spTree>
    <p:extLst>
      <p:ext uri="{BB962C8B-B14F-4D97-AF65-F5344CB8AC3E}">
        <p14:creationId xmlns:p14="http://schemas.microsoft.com/office/powerpoint/2010/main" val="2311308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B79C8-3367-A7D7-7F60-4CEF94723DF6}"/>
              </a:ext>
            </a:extLst>
          </p:cNvPr>
          <p:cNvSpPr>
            <a:spLocks noGrp="1"/>
          </p:cNvSpPr>
          <p:nvPr>
            <p:ph type="title"/>
          </p:nvPr>
        </p:nvSpPr>
        <p:spPr/>
        <p:txBody>
          <a:bodyPr/>
          <a:lstStyle/>
          <a:p>
            <a:r>
              <a:rPr lang="en-US" dirty="0"/>
              <a:t>Identify Seasonal Patterns and Long-Term Trends</a:t>
            </a:r>
            <a:endParaRPr lang="en-IN" dirty="0"/>
          </a:p>
        </p:txBody>
      </p:sp>
      <p:sp>
        <p:nvSpPr>
          <p:cNvPr id="3" name="Content Placeholder 2">
            <a:extLst>
              <a:ext uri="{FF2B5EF4-FFF2-40B4-BE49-F238E27FC236}">
                <a16:creationId xmlns:a16="http://schemas.microsoft.com/office/drawing/2014/main" id="{61CB06DD-0FB5-865E-6EEA-95249CAB253D}"/>
              </a:ext>
            </a:extLst>
          </p:cNvPr>
          <p:cNvSpPr>
            <a:spLocks noGrp="1"/>
          </p:cNvSpPr>
          <p:nvPr>
            <p:ph idx="1"/>
          </p:nvPr>
        </p:nvSpPr>
        <p:spPr>
          <a:xfrm>
            <a:off x="2589212" y="2133600"/>
            <a:ext cx="4507874" cy="3777622"/>
          </a:xfrm>
        </p:spPr>
        <p:txBody>
          <a:bodyPr/>
          <a:lstStyle/>
          <a:p>
            <a:r>
              <a:rPr lang="en-US" dirty="0"/>
              <a:t>Weather conditions vary across different seasons and over time. This objective aims to analyze monthly and yearly data to identify recurring seasonal patterns, such as higher temperatures in summer or increased rainfall during monsoon periods. Long-term trend analysis helps in understanding whether temperature or rainfall is increasing or decreasing over time.</a:t>
            </a:r>
          </a:p>
          <a:p>
            <a:pPr marL="0" indent="0">
              <a:buNone/>
            </a:pPr>
            <a:endParaRPr lang="en-IN" dirty="0"/>
          </a:p>
        </p:txBody>
      </p:sp>
      <p:pic>
        <p:nvPicPr>
          <p:cNvPr id="5" name="Picture 4">
            <a:extLst>
              <a:ext uri="{FF2B5EF4-FFF2-40B4-BE49-F238E27FC236}">
                <a16:creationId xmlns:a16="http://schemas.microsoft.com/office/drawing/2014/main" id="{2A8AC88E-43C6-3FB4-699A-D0B94DF4CA11}"/>
              </a:ext>
            </a:extLst>
          </p:cNvPr>
          <p:cNvPicPr>
            <a:picLocks noChangeAspect="1"/>
          </p:cNvPicPr>
          <p:nvPr/>
        </p:nvPicPr>
        <p:blipFill>
          <a:blip r:embed="rId2"/>
          <a:stretch>
            <a:fillRect/>
          </a:stretch>
        </p:blipFill>
        <p:spPr>
          <a:xfrm>
            <a:off x="7952763" y="2214693"/>
            <a:ext cx="3724712" cy="2902591"/>
          </a:xfrm>
          <a:prstGeom prst="rect">
            <a:avLst/>
          </a:prstGeom>
        </p:spPr>
      </p:pic>
    </p:spTree>
    <p:extLst>
      <p:ext uri="{BB962C8B-B14F-4D97-AF65-F5344CB8AC3E}">
        <p14:creationId xmlns:p14="http://schemas.microsoft.com/office/powerpoint/2010/main" val="40112903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836EC-870B-37BD-596D-F02BC1D46FB6}"/>
              </a:ext>
            </a:extLst>
          </p:cNvPr>
          <p:cNvSpPr>
            <a:spLocks noGrp="1"/>
          </p:cNvSpPr>
          <p:nvPr>
            <p:ph type="title"/>
          </p:nvPr>
        </p:nvSpPr>
        <p:spPr/>
        <p:txBody>
          <a:bodyPr/>
          <a:lstStyle/>
          <a:p>
            <a:r>
              <a:rPr lang="en-IN" dirty="0"/>
              <a:t>Detect Extreme Weather Events</a:t>
            </a:r>
          </a:p>
        </p:txBody>
      </p:sp>
      <p:sp>
        <p:nvSpPr>
          <p:cNvPr id="3" name="Content Placeholder 2">
            <a:extLst>
              <a:ext uri="{FF2B5EF4-FFF2-40B4-BE49-F238E27FC236}">
                <a16:creationId xmlns:a16="http://schemas.microsoft.com/office/drawing/2014/main" id="{668E4D01-F2AA-3CA2-0112-9E9FFFC543AA}"/>
              </a:ext>
            </a:extLst>
          </p:cNvPr>
          <p:cNvSpPr>
            <a:spLocks noGrp="1"/>
          </p:cNvSpPr>
          <p:nvPr>
            <p:ph idx="1"/>
          </p:nvPr>
        </p:nvSpPr>
        <p:spPr>
          <a:xfrm>
            <a:off x="2399252" y="2133600"/>
            <a:ext cx="4991449" cy="3777622"/>
          </a:xfrm>
        </p:spPr>
        <p:txBody>
          <a:bodyPr/>
          <a:lstStyle/>
          <a:p>
            <a:r>
              <a:rPr lang="en-US" dirty="0"/>
              <a:t>This involves identifying unusual or extreme conditions in the dataset based on predefined thresholds. For example:</a:t>
            </a:r>
          </a:p>
          <a:p>
            <a:pPr>
              <a:buFont typeface="Wingdings" panose="05000000000000000000" pitchFamily="2" charset="2"/>
              <a:buChar char="§"/>
            </a:pPr>
            <a:r>
              <a:rPr lang="en-US" dirty="0"/>
              <a:t>Temperature above 40°C → Heatwave </a:t>
            </a:r>
          </a:p>
          <a:p>
            <a:pPr>
              <a:buFont typeface="Wingdings" panose="05000000000000000000" pitchFamily="2" charset="2"/>
              <a:buChar char="§"/>
            </a:pPr>
            <a:r>
              <a:rPr lang="en-US" dirty="0"/>
              <a:t>Rainfall above 100 mm → Heavy rainfall </a:t>
            </a:r>
          </a:p>
          <a:p>
            <a:pPr>
              <a:buFont typeface="Wingdings" panose="05000000000000000000" pitchFamily="2" charset="2"/>
              <a:buChar char="§"/>
            </a:pPr>
            <a:r>
              <a:rPr lang="en-US" dirty="0"/>
              <a:t>Wind speed above 60 kph → Strong winds </a:t>
            </a:r>
          </a:p>
          <a:p>
            <a:r>
              <a:rPr lang="en-US" dirty="0"/>
              <a:t>Detecting such events helps in understanding climate risks and abnormal weather behavior.</a:t>
            </a:r>
          </a:p>
          <a:p>
            <a:pPr marL="0" indent="0">
              <a:buNone/>
            </a:pPr>
            <a:endParaRPr lang="en-IN" dirty="0"/>
          </a:p>
        </p:txBody>
      </p:sp>
      <p:pic>
        <p:nvPicPr>
          <p:cNvPr id="5" name="Picture 4">
            <a:extLst>
              <a:ext uri="{FF2B5EF4-FFF2-40B4-BE49-F238E27FC236}">
                <a16:creationId xmlns:a16="http://schemas.microsoft.com/office/drawing/2014/main" id="{0C6EF9D0-6930-6351-E5B9-FF18092F43D5}"/>
              </a:ext>
            </a:extLst>
          </p:cNvPr>
          <p:cNvPicPr>
            <a:picLocks noChangeAspect="1"/>
          </p:cNvPicPr>
          <p:nvPr/>
        </p:nvPicPr>
        <p:blipFill>
          <a:blip r:embed="rId2"/>
          <a:stretch>
            <a:fillRect/>
          </a:stretch>
        </p:blipFill>
        <p:spPr>
          <a:xfrm>
            <a:off x="7860483" y="2399251"/>
            <a:ext cx="3858937" cy="2298584"/>
          </a:xfrm>
          <a:prstGeom prst="rect">
            <a:avLst/>
          </a:prstGeom>
        </p:spPr>
      </p:pic>
    </p:spTree>
    <p:extLst>
      <p:ext uri="{BB962C8B-B14F-4D97-AF65-F5344CB8AC3E}">
        <p14:creationId xmlns:p14="http://schemas.microsoft.com/office/powerpoint/2010/main" val="10289873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5043A-2FF8-54A9-8F71-235DF5AF8B29}"/>
              </a:ext>
            </a:extLst>
          </p:cNvPr>
          <p:cNvSpPr>
            <a:spLocks noGrp="1"/>
          </p:cNvSpPr>
          <p:nvPr>
            <p:ph type="title"/>
          </p:nvPr>
        </p:nvSpPr>
        <p:spPr/>
        <p:txBody>
          <a:bodyPr/>
          <a:lstStyle/>
          <a:p>
            <a:r>
              <a:rPr lang="en-US" dirty="0"/>
              <a:t>Compare Weather Conditions Across Different Regions and Countries</a:t>
            </a:r>
            <a:endParaRPr lang="en-IN" dirty="0"/>
          </a:p>
        </p:txBody>
      </p:sp>
      <p:sp>
        <p:nvSpPr>
          <p:cNvPr id="3" name="Content Placeholder 2">
            <a:extLst>
              <a:ext uri="{FF2B5EF4-FFF2-40B4-BE49-F238E27FC236}">
                <a16:creationId xmlns:a16="http://schemas.microsoft.com/office/drawing/2014/main" id="{F5895B11-4E3F-F6F7-4EC0-7C8A9EA243FD}"/>
              </a:ext>
            </a:extLst>
          </p:cNvPr>
          <p:cNvSpPr>
            <a:spLocks noGrp="1"/>
          </p:cNvSpPr>
          <p:nvPr>
            <p:ph idx="1"/>
          </p:nvPr>
        </p:nvSpPr>
        <p:spPr>
          <a:xfrm>
            <a:off x="2589212" y="2133600"/>
            <a:ext cx="4373650" cy="3777622"/>
          </a:xfrm>
        </p:spPr>
        <p:txBody>
          <a:bodyPr/>
          <a:lstStyle/>
          <a:p>
            <a:r>
              <a:rPr lang="en-US" dirty="0"/>
              <a:t>This objective focuses on comparing weather parameters between different countries or regions. By grouping and aggregating data, differences in temperature, rainfall, and wind speed can be analyzed. This comparison helps identify which regions are hotter, wetter, or more prone to extreme conditions.</a:t>
            </a:r>
          </a:p>
          <a:p>
            <a:pPr marL="0" indent="0">
              <a:buNone/>
            </a:pPr>
            <a:endParaRPr lang="en-IN" dirty="0"/>
          </a:p>
        </p:txBody>
      </p:sp>
      <p:pic>
        <p:nvPicPr>
          <p:cNvPr id="5" name="Picture 4">
            <a:extLst>
              <a:ext uri="{FF2B5EF4-FFF2-40B4-BE49-F238E27FC236}">
                <a16:creationId xmlns:a16="http://schemas.microsoft.com/office/drawing/2014/main" id="{CB6ADC03-4FA4-4AF4-70D1-434FE439CA8C}"/>
              </a:ext>
            </a:extLst>
          </p:cNvPr>
          <p:cNvPicPr>
            <a:picLocks noChangeAspect="1"/>
          </p:cNvPicPr>
          <p:nvPr/>
        </p:nvPicPr>
        <p:blipFill>
          <a:blip r:embed="rId2"/>
          <a:stretch>
            <a:fillRect/>
          </a:stretch>
        </p:blipFill>
        <p:spPr>
          <a:xfrm>
            <a:off x="7231309" y="2256639"/>
            <a:ext cx="4471333" cy="2575420"/>
          </a:xfrm>
          <a:prstGeom prst="rect">
            <a:avLst/>
          </a:prstGeom>
        </p:spPr>
      </p:pic>
    </p:spTree>
    <p:extLst>
      <p:ext uri="{BB962C8B-B14F-4D97-AF65-F5344CB8AC3E}">
        <p14:creationId xmlns:p14="http://schemas.microsoft.com/office/powerpoint/2010/main" val="2465730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7616C-8455-0D7B-5237-3658BE029A3C}"/>
              </a:ext>
            </a:extLst>
          </p:cNvPr>
          <p:cNvSpPr>
            <a:spLocks noGrp="1"/>
          </p:cNvSpPr>
          <p:nvPr>
            <p:ph type="title"/>
          </p:nvPr>
        </p:nvSpPr>
        <p:spPr/>
        <p:txBody>
          <a:bodyPr/>
          <a:lstStyle/>
          <a:p>
            <a:r>
              <a:rPr lang="en-US" dirty="0"/>
              <a:t>Design and Develop an Interactive Dashboard</a:t>
            </a:r>
            <a:endParaRPr lang="en-IN" dirty="0"/>
          </a:p>
        </p:txBody>
      </p:sp>
      <p:sp>
        <p:nvSpPr>
          <p:cNvPr id="3" name="Content Placeholder 2">
            <a:extLst>
              <a:ext uri="{FF2B5EF4-FFF2-40B4-BE49-F238E27FC236}">
                <a16:creationId xmlns:a16="http://schemas.microsoft.com/office/drawing/2014/main" id="{4E552961-1032-C146-51F4-49C9C9D13B0F}"/>
              </a:ext>
            </a:extLst>
          </p:cNvPr>
          <p:cNvSpPr>
            <a:spLocks noGrp="1"/>
          </p:cNvSpPr>
          <p:nvPr>
            <p:ph idx="1"/>
          </p:nvPr>
        </p:nvSpPr>
        <p:spPr>
          <a:xfrm>
            <a:off x="2589212" y="2133600"/>
            <a:ext cx="4306538" cy="3777622"/>
          </a:xfrm>
        </p:spPr>
        <p:txBody>
          <a:bodyPr/>
          <a:lstStyle/>
          <a:p>
            <a:r>
              <a:rPr lang="en-US" dirty="0"/>
              <a:t>The analyzed data is presented through an interactive dashboard. The dashboard is designed with multiple sections such as overview, temperature analysis, rainfall analysis, and extreme events. It provides a structured and visual representation of insights, making it easy for users to understand complex data.</a:t>
            </a:r>
            <a:endParaRPr lang="en-IN" dirty="0"/>
          </a:p>
        </p:txBody>
      </p:sp>
      <p:pic>
        <p:nvPicPr>
          <p:cNvPr id="5" name="Picture 4">
            <a:extLst>
              <a:ext uri="{FF2B5EF4-FFF2-40B4-BE49-F238E27FC236}">
                <a16:creationId xmlns:a16="http://schemas.microsoft.com/office/drawing/2014/main" id="{C3185BC6-345B-399B-DDCA-233FA4525526}"/>
              </a:ext>
            </a:extLst>
          </p:cNvPr>
          <p:cNvPicPr>
            <a:picLocks noChangeAspect="1"/>
          </p:cNvPicPr>
          <p:nvPr/>
        </p:nvPicPr>
        <p:blipFill>
          <a:blip r:embed="rId2"/>
          <a:stretch>
            <a:fillRect/>
          </a:stretch>
        </p:blipFill>
        <p:spPr>
          <a:xfrm>
            <a:off x="7256476" y="2133600"/>
            <a:ext cx="4546833" cy="2983684"/>
          </a:xfrm>
          <a:prstGeom prst="rect">
            <a:avLst/>
          </a:prstGeom>
        </p:spPr>
      </p:pic>
    </p:spTree>
    <p:extLst>
      <p:ext uri="{BB962C8B-B14F-4D97-AF65-F5344CB8AC3E}">
        <p14:creationId xmlns:p14="http://schemas.microsoft.com/office/powerpoint/2010/main" val="208398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A883B-7DBC-D8CC-1A5F-0ECE2E97B7F5}"/>
              </a:ext>
            </a:extLst>
          </p:cNvPr>
          <p:cNvSpPr>
            <a:spLocks noGrp="1"/>
          </p:cNvSpPr>
          <p:nvPr>
            <p:ph type="title"/>
          </p:nvPr>
        </p:nvSpPr>
        <p:spPr/>
        <p:txBody>
          <a:bodyPr/>
          <a:lstStyle/>
          <a:p>
            <a:r>
              <a:rPr lang="en-US" dirty="0"/>
              <a:t>Provide Meaningful Insights for Better Decision-Making</a:t>
            </a:r>
            <a:endParaRPr lang="en-IN" dirty="0"/>
          </a:p>
        </p:txBody>
      </p:sp>
      <p:sp>
        <p:nvSpPr>
          <p:cNvPr id="3" name="Content Placeholder 2">
            <a:extLst>
              <a:ext uri="{FF2B5EF4-FFF2-40B4-BE49-F238E27FC236}">
                <a16:creationId xmlns:a16="http://schemas.microsoft.com/office/drawing/2014/main" id="{1D6F1050-2CF4-F2FE-A9F4-51D937596484}"/>
              </a:ext>
            </a:extLst>
          </p:cNvPr>
          <p:cNvSpPr>
            <a:spLocks noGrp="1"/>
          </p:cNvSpPr>
          <p:nvPr>
            <p:ph idx="1"/>
          </p:nvPr>
        </p:nvSpPr>
        <p:spPr/>
        <p:txBody>
          <a:bodyPr/>
          <a:lstStyle/>
          <a:p>
            <a:r>
              <a:rPr lang="en-US" dirty="0"/>
              <a:t>The final objective is to convert raw data into actionable insights. By analyzing and visualizing the data, users can understand climate patterns, detect risks, and make informed decisions. The dashboard serves as a tool for better interpretation and understanding of global weather conditions.</a:t>
            </a:r>
            <a:endParaRPr lang="en-IN" dirty="0"/>
          </a:p>
        </p:txBody>
      </p:sp>
    </p:spTree>
    <p:extLst>
      <p:ext uri="{BB962C8B-B14F-4D97-AF65-F5344CB8AC3E}">
        <p14:creationId xmlns:p14="http://schemas.microsoft.com/office/powerpoint/2010/main" val="35487125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6EB98-1F1D-BB7F-D6DD-4646A7D94D03}"/>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AF85F658-C155-A142-3812-251DBBCDAFF6}"/>
              </a:ext>
            </a:extLst>
          </p:cNvPr>
          <p:cNvSpPr>
            <a:spLocks noGrp="1"/>
          </p:cNvSpPr>
          <p:nvPr>
            <p:ph idx="1"/>
          </p:nvPr>
        </p:nvSpPr>
        <p:spPr/>
        <p:txBody>
          <a:bodyPr/>
          <a:lstStyle/>
          <a:p>
            <a:r>
              <a:rPr lang="en-US" dirty="0"/>
              <a:t>The </a:t>
            </a:r>
            <a:r>
              <a:rPr lang="en-US" b="1" dirty="0"/>
              <a:t>Global Weather Analytics Dashboard</a:t>
            </a:r>
            <a:r>
              <a:rPr lang="en-US" dirty="0"/>
              <a:t> project successfully demonstrates the application of data analytics and visualization techniques to analyze large-scale weather data and extract meaningful insights. The project was carried out in a structured manner through data preparation, analysis, and interactive dashboard development.</a:t>
            </a:r>
          </a:p>
          <a:p>
            <a:r>
              <a:rPr lang="en-US" dirty="0"/>
              <a:t>The development of an interactive dashboard using Microsoft Power BI enabled the transformation of complex data into visually intuitive charts and graphs. The inclusion of filters and slicers enhanced user interaction, allowing dynamic exploration and comparison of weather conditions across different regions and time periods.</a:t>
            </a:r>
            <a:endParaRPr lang="en-IN" dirty="0"/>
          </a:p>
        </p:txBody>
      </p:sp>
    </p:spTree>
    <p:extLst>
      <p:ext uri="{BB962C8B-B14F-4D97-AF65-F5344CB8AC3E}">
        <p14:creationId xmlns:p14="http://schemas.microsoft.com/office/powerpoint/2010/main" val="2673740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422C98-0C48-A572-433A-DFA6657361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180078979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66</TotalTime>
  <Words>539</Words>
  <Application>Microsoft Office PowerPoint</Application>
  <PresentationFormat>Widescreen</PresentationFormat>
  <Paragraphs>35</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Arimo</vt:lpstr>
      <vt:lpstr>Arimo Bold</vt:lpstr>
      <vt:lpstr>Century Gothic</vt:lpstr>
      <vt:lpstr>Wingdings</vt:lpstr>
      <vt:lpstr>Wingdings 3</vt:lpstr>
      <vt:lpstr>Wisp</vt:lpstr>
      <vt:lpstr>Global Weather Analytics Dashboard</vt:lpstr>
      <vt:lpstr>Project Objectives</vt:lpstr>
      <vt:lpstr>Perform Statistical Analysis on Global Weather Data</vt:lpstr>
      <vt:lpstr>Identify Seasonal Patterns and Long-Term Trends</vt:lpstr>
      <vt:lpstr>Detect Extreme Weather Events</vt:lpstr>
      <vt:lpstr>Compare Weather Conditions Across Different Regions and Countries</vt:lpstr>
      <vt:lpstr>Design and Develop an Interactive Dashboard</vt:lpstr>
      <vt:lpstr>Provide Meaningful Insights for Better Decision-Making</vt:lpstr>
      <vt:lpstr>Conclusion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BODDUPALLI GEETHIKA</dc:creator>
  <cp:lastModifiedBy>BODDUPALLI GEETHIKA</cp:lastModifiedBy>
  <cp:revision>2</cp:revision>
  <dcterms:created xsi:type="dcterms:W3CDTF">2026-04-06T12:47:18Z</dcterms:created>
  <dcterms:modified xsi:type="dcterms:W3CDTF">2026-04-06T14:18:41Z</dcterms:modified>
</cp:coreProperties>
</file>